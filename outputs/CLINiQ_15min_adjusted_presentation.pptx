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af21756662466c" /><Relationship Type="http://schemas.openxmlformats.org/officeDocument/2006/relationships/extended-properties" Target="/docProps/app.xml" Id="R48f018e24381446a" /><Relationship Type="http://schemas.openxmlformats.org/officeDocument/2006/relationships/officeDocument" Target="/ppt/presentation.xml" Id="R5d8d4c7ea2764e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5e13132b1d4c27"/>
  </p:sldMasterIdLst>
  <p:notesMasterIdLst>
    <p:notesMasterId xmlns:r="http://schemas.openxmlformats.org/officeDocument/2006/relationships" r:id="Raafbaf39be5946cc"/>
  </p:notesMasterIdLst>
  <p:sldIdLst>
    <p:sldId xmlns:r="http://schemas.openxmlformats.org/officeDocument/2006/relationships" id="256" r:id="R66e23616a6934117"/>
    <p:sldId xmlns:r="http://schemas.openxmlformats.org/officeDocument/2006/relationships" id="257" r:id="Rb9b7e27bd2f8493c"/>
    <p:sldId xmlns:r="http://schemas.openxmlformats.org/officeDocument/2006/relationships" id="258" r:id="R390b1c5e28c74942"/>
    <p:sldId xmlns:r="http://schemas.openxmlformats.org/officeDocument/2006/relationships" id="259" r:id="R4a0580aee8414c67"/>
    <p:sldId xmlns:r="http://schemas.openxmlformats.org/officeDocument/2006/relationships" id="260" r:id="R303353016eb94dc0"/>
    <p:sldId xmlns:r="http://schemas.openxmlformats.org/officeDocument/2006/relationships" id="261" r:id="Rc0bdf06798b9449f"/>
    <p:sldId xmlns:r="http://schemas.openxmlformats.org/officeDocument/2006/relationships" id="262" r:id="R6af4297952c248b3"/>
    <p:sldId xmlns:r="http://schemas.openxmlformats.org/officeDocument/2006/relationships" id="263" r:id="Rd9d46fe7b2d74a2e"/>
    <p:sldId xmlns:r="http://schemas.openxmlformats.org/officeDocument/2006/relationships" id="264" r:id="R1e4dae5e2ef84b6b"/>
    <p:sldId xmlns:r="http://schemas.openxmlformats.org/officeDocument/2006/relationships" id="265" r:id="R7cf1f841ddf64fcd"/>
    <p:sldId xmlns:r="http://schemas.openxmlformats.org/officeDocument/2006/relationships" id="266" r:id="Rbe0242ed4e83441d"/>
    <p:sldId xmlns:r="http://schemas.openxmlformats.org/officeDocument/2006/relationships" id="267" r:id="R63b646bf2cd34e96"/>
    <p:sldId xmlns:r="http://schemas.openxmlformats.org/officeDocument/2006/relationships" id="268" r:id="Rafd9a67db3154c6c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76dade96b944bc" /><Relationship Type="http://schemas.openxmlformats.org/officeDocument/2006/relationships/slideMaster" Target="/ppt/slideMasters/slideMaster1.xml" Id="R225e13132b1d4c27" /><Relationship Type="http://schemas.openxmlformats.org/officeDocument/2006/relationships/notesMaster" Target="/ppt/notesMasters/notesMaster1.xml" Id="Raafbaf39be5946cc" /><Relationship Type="http://schemas.openxmlformats.org/officeDocument/2006/relationships/presProps" Target="/ppt/presProps.xml" Id="R98db8afacb6f42d9" /><Relationship Type="http://schemas.openxmlformats.org/officeDocument/2006/relationships/tableStyles" Target="/ppt/tableStyles.xml" Id="R3d189b13a7464f77" /><Relationship Type="http://schemas.openxmlformats.org/officeDocument/2006/relationships/slide" Target="/ppt/slides/slide1.xml" Id="R66e23616a6934117" /><Relationship Type="http://schemas.openxmlformats.org/officeDocument/2006/relationships/slide" Target="/ppt/slides/slide2.xml" Id="Rb9b7e27bd2f8493c" /><Relationship Type="http://schemas.openxmlformats.org/officeDocument/2006/relationships/slide" Target="/ppt/slides/slide3.xml" Id="R390b1c5e28c74942" /><Relationship Type="http://schemas.openxmlformats.org/officeDocument/2006/relationships/slide" Target="/ppt/slides/slide4.xml" Id="R4a0580aee8414c67" /><Relationship Type="http://schemas.openxmlformats.org/officeDocument/2006/relationships/slide" Target="/ppt/slides/slide5.xml" Id="R303353016eb94dc0" /><Relationship Type="http://schemas.openxmlformats.org/officeDocument/2006/relationships/slide" Target="/ppt/slides/slide6.xml" Id="Rc0bdf06798b9449f" /><Relationship Type="http://schemas.openxmlformats.org/officeDocument/2006/relationships/slide" Target="/ppt/slides/slide7.xml" Id="R6af4297952c248b3" /><Relationship Type="http://schemas.openxmlformats.org/officeDocument/2006/relationships/slide" Target="/ppt/slides/slide8.xml" Id="Rd9d46fe7b2d74a2e" /><Relationship Type="http://schemas.openxmlformats.org/officeDocument/2006/relationships/slide" Target="/ppt/slides/slide9.xml" Id="R1e4dae5e2ef84b6b" /><Relationship Type="http://schemas.openxmlformats.org/officeDocument/2006/relationships/slide" Target="/ppt/slides/slide10.xml" Id="R7cf1f841ddf64fcd" /><Relationship Type="http://schemas.openxmlformats.org/officeDocument/2006/relationships/slide" Target="/ppt/slides/slide11.xml" Id="Rbe0242ed4e83441d" /><Relationship Type="http://schemas.openxmlformats.org/officeDocument/2006/relationships/slide" Target="/ppt/slides/slide12.xml" Id="R63b646bf2cd34e96" /><Relationship Type="http://schemas.openxmlformats.org/officeDocument/2006/relationships/slide" Target="/ppt/slides/slide13.xml" Id="Rafd9a67db3154c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325490026a4d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5623d0e219401d" /><Relationship Type="http://schemas.openxmlformats.org/officeDocument/2006/relationships/notesMaster" Target="/ppt/notesMasters/notesMaster1.xml" Id="Ra3a0b3a6567745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1fae449c694f7b" /><Relationship Type="http://schemas.openxmlformats.org/officeDocument/2006/relationships/notesMaster" Target="/ppt/notesMasters/notesMaster1.xml" Id="R4028689571c44e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4dad12e763415e" /><Relationship Type="http://schemas.openxmlformats.org/officeDocument/2006/relationships/notesMaster" Target="/ppt/notesMasters/notesMaster1.xml" Id="R76412ad57bcf40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0d06ab96b44f44" /><Relationship Type="http://schemas.openxmlformats.org/officeDocument/2006/relationships/notesMaster" Target="/ppt/notesMasters/notesMaster1.xml" Id="R34c994bd53294f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e7c22482424e87" /><Relationship Type="http://schemas.openxmlformats.org/officeDocument/2006/relationships/notesMaster" Target="/ppt/notesMasters/notesMaster1.xml" Id="Rb8083ce56ed148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3017d154de4a7e" /><Relationship Type="http://schemas.openxmlformats.org/officeDocument/2006/relationships/notesMaster" Target="/ppt/notesMasters/notesMaster1.xml" Id="R831b4bb43cec42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7a93c6c74d4866" /><Relationship Type="http://schemas.openxmlformats.org/officeDocument/2006/relationships/notesMaster" Target="/ppt/notesMasters/notesMaster1.xml" Id="Rc13ac20acf914b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e01d9f3d114113" /><Relationship Type="http://schemas.openxmlformats.org/officeDocument/2006/relationships/notesMaster" Target="/ppt/notesMasters/notesMaster1.xml" Id="R72142a7033df46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8171141b5c4f46" /><Relationship Type="http://schemas.openxmlformats.org/officeDocument/2006/relationships/notesMaster" Target="/ppt/notesMasters/notesMaster1.xml" Id="Rf7ea5cb84b3c43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7efffa28aa472b" /><Relationship Type="http://schemas.openxmlformats.org/officeDocument/2006/relationships/notesMaster" Target="/ppt/notesMasters/notesMaster1.xml" Id="Rc374436487c148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17ae14895b4224" /><Relationship Type="http://schemas.openxmlformats.org/officeDocument/2006/relationships/notesMaster" Target="/ppt/notesMasters/notesMaster1.xml" Id="R36d8e4725c8342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0b3df1483542fe" /><Relationship Type="http://schemas.openxmlformats.org/officeDocument/2006/relationships/notesMaster" Target="/ppt/notesMasters/notesMaster1.xml" Id="Rdbbc3781e5954d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998be9a0694d87" /><Relationship Type="http://schemas.openxmlformats.org/officeDocument/2006/relationships/notesMaster" Target="/ppt/notesMasters/notesMaster1.xml" Id="R373b8747fa7943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Presentation pacing target: maximum 15 minutes.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Demo focus: student appointment request -&gt; staff approval -&gt; visit recording -&gt; risk result -&gt; patient profile -&gt; passport incident -&gt; nurse alert -&gt; APE/reports proof.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Defense phrasing: rule-based decision support, tokenized QR/NFC-ready emergency link, near real-time dashboard polling.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Presentation pacing target: maximum 15 minutes.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Demo focus: student appointment request -&gt; staff approval -&gt; visit recording -&gt; risk result -&gt; patient profile -&gt; passport incident -&gt; nurse alert -&gt; APE/reports proof.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Defense phrasing: rule-based decision support, tokenized QR/NFC-ready emergency link, near real-time dashboard polling.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Presentation pacing target: maximum 15 minutes.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Demo focus: student appointment request -&gt; staff approval -&gt; visit recording -&gt; risk result -&gt; patient profile -&gt; passport incident -&gt; nurse alert -&gt; APE/reports proof.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Defense phrasing: rule-based decision support, tokenized QR/NFC-ready emergency link, near real-time dashboard polling.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Presentation pacing target: maximum 15 minutes.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Demo focus: student appointment request -&gt; staff approval -&gt; visit recording -&gt; risk result -&gt; patient profile -&gt; passport incident -&gt; nurse alert -&gt; APE/reports proof.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Defense phrasing: rule-based decision support, tokenized QR/NFC-ready emergency link, near real-time dashboard polling.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Presentation pacing target: maximum 15 minutes.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Demo focus: student appointment request -&gt; staff approval -&gt; visit recording -&gt; risk result -&gt; patient profile -&gt; passport incident -&gt; nurse alert -&gt; APE/reports proof.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Defense phrasing: rule-based decision support, tokenized QR/NFC-ready emergency link, near real-time dashboard polling.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Presentation pacing target: maximum 15 minutes.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Demo focus: student appointment request -&gt; staff approval -&gt; visit recording -&gt; risk result -&gt; patient profile -&gt; passport incident -&gt; nurse alert -&gt; APE/reports proof.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Defense phrasing: rule-based decision support, tokenized QR/NFC-ready emergency link, near real-time dashboard polling.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Presentation pacing target: maximum 15 minutes.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Demo focus: student appointment request -&gt; staff approval -&gt; visit recording -&gt; risk result -&gt; patient profile -&gt; passport incident -&gt; nurse alert -&gt; APE/reports proof.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Defense phrasing: rule-based decision support, tokenized QR/NFC-ready emergency link, near real-time dashboard polling.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Presentation pacing target: maximum 15 minutes.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Demo focus: student appointment request -&gt; staff approval -&gt; visit recording -&gt; risk result -&gt; patient profile -&gt; passport incident -&gt; nurse alert -&gt; APE/reports proof.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Defense phrasing: rule-based decision support, tokenized QR/NFC-ready emergency link, near real-time dashboard polling.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Presentation pacing target: maximum 15 minutes.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Demo focus: student appointment request -&gt; staff approval -&gt; visit recording -&gt; risk result -&gt; patient profile -&gt; passport incident -&gt; nurse alert -&gt; APE/reports proof.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Defense phrasing: rule-based decision support, tokenized QR/NFC-ready emergency link, near real-time dashboard polling.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Presentation pacing target: maximum 15 minutes.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Demo focus: student appointment request -&gt; staff approval -&gt; visit recording -&gt; risk result -&gt; patient profile -&gt; passport incident -&gt; nurse alert -&gt; APE/reports proof.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Defense phrasing: rule-based decision support, tokenized QR/NFC-ready emergency link, near real-time dashboard polling.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Presentation pacing target: maximum 15 minutes.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Demo focus: student appointment request -&gt; staff approval -&gt; visit recording -&gt; risk result -&gt; patient profile -&gt; passport incident -&gt; nurse alert -&gt; APE/reports proof.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Defense phrasing: rule-based decision support, tokenized QR/NFC-ready emergency link, near real-time dashboard polling.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Presentation pacing target: maximum 15 minutes.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Demo focus: student appointment request -&gt; staff approval -&gt; visit recording -&gt; risk result -&gt; patient profile -&gt; passport incident -&gt; nurse alert -&gt; APE/reports proof.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Defense phrasing: rule-based decision support, tokenized QR/NFC-ready emergency link, near real-time dashboard polling.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Presentation pacing target: maximum 15 minutes.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Demo focus: student appointment request -&gt; staff approval -&gt; visit recording -&gt; risk result -&gt; patient profile -&gt; passport incident -&gt; nurse alert -&gt; APE/reports proof.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Defense phrasing: rule-based decision support, tokenized QR/NFC-ready emergency link, near real-time dashboard polling.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a8c67cc8bd4545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d08440b2c449f4" /><Relationship Type="http://schemas.openxmlformats.org/officeDocument/2006/relationships/slideLayout" Target="/ppt/slideLayouts/slideLayout1.xml" Id="R37d8d5d20a3e494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d8d5d20a3e4949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b64821c084044" /><Relationship Type="http://schemas.openxmlformats.org/officeDocument/2006/relationships/image" Target="/ppt/media/image.png" Id="R4d2bc1b7ee9446de" /><Relationship Type="http://schemas.openxmlformats.org/officeDocument/2006/relationships/image" Target="/ppt/media/image2.png" Id="R6a4c5a1d5c274e9e" /><Relationship Type="http://schemas.openxmlformats.org/officeDocument/2006/relationships/image" Target="/ppt/media/image.jpeg" Id="Rea7e82439d864b56" /><Relationship Type="http://schemas.openxmlformats.org/officeDocument/2006/relationships/notesSlide" Target="/ppt/notesSlides/notesSlide1.xml" Id="Reea91efcefca44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534b31e414a82" /><Relationship Type="http://schemas.openxmlformats.org/officeDocument/2006/relationships/image" Target="/ppt/media/image.png" Id="R15e3be49e53c43aa" /><Relationship Type="http://schemas.openxmlformats.org/officeDocument/2006/relationships/image" Target="/ppt/media/image3.png" Id="R77db534e37244a4e" /><Relationship Type="http://schemas.openxmlformats.org/officeDocument/2006/relationships/image" Target="/ppt/media/image4.png" Id="Ref8c190d582346d6" /><Relationship Type="http://schemas.openxmlformats.org/officeDocument/2006/relationships/image" Target="/ppt/media/image5.png" Id="R6d1e4810f1dd4a6e" /><Relationship Type="http://schemas.openxmlformats.org/officeDocument/2006/relationships/notesSlide" Target="/ppt/notesSlides/notesSlide2.xml" Id="R314510ac76cf40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1c58ae8c748f1" /><Relationship Type="http://schemas.openxmlformats.org/officeDocument/2006/relationships/image" Target="/ppt/media/image6.png" Id="Rb80102159e4a49d7" /><Relationship Type="http://schemas.openxmlformats.org/officeDocument/2006/relationships/image" Target="/ppt/media/image7.png" Id="R1475164ce6614b7b" /><Relationship Type="http://schemas.openxmlformats.org/officeDocument/2006/relationships/notesSlide" Target="/ppt/notesSlides/notesSlide3.xml" Id="R36ad580e1dea4f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1893955724624" /><Relationship Type="http://schemas.openxmlformats.org/officeDocument/2006/relationships/notesSlide" Target="/ppt/notesSlides/notesSlide4.xml" Id="R0e19cc81c4b341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05d11c67e4222" /><Relationship Type="http://schemas.openxmlformats.org/officeDocument/2006/relationships/image" Target="/ppt/media/image7.png" Id="R3e5760b73d674664" /><Relationship Type="http://schemas.openxmlformats.org/officeDocument/2006/relationships/image" Target="/ppt/media/image8.png" Id="R8f0633056b514226" /><Relationship Type="http://schemas.openxmlformats.org/officeDocument/2006/relationships/notesSlide" Target="/ppt/notesSlides/notesSlide5.xml" Id="R0d99c347f9604a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174339b384f40" /><Relationship Type="http://schemas.openxmlformats.org/officeDocument/2006/relationships/image" Target="/ppt/media/image5.png" Id="R8ae17b744088492c" /><Relationship Type="http://schemas.openxmlformats.org/officeDocument/2006/relationships/image" Target="/ppt/media/image9.png" Id="R2b1f63d2219448e1" /><Relationship Type="http://schemas.openxmlformats.org/officeDocument/2006/relationships/image" Target="/ppt/media/image.png" Id="R9f19714298364ca3" /><Relationship Type="http://schemas.openxmlformats.org/officeDocument/2006/relationships/image" Target="/ppt/media/image10.png" Id="R74b3116900e147ff" /><Relationship Type="http://schemas.openxmlformats.org/officeDocument/2006/relationships/image" Target="/ppt/media/image11.png" Id="R4052c2b4df834e05" /><Relationship Type="http://schemas.openxmlformats.org/officeDocument/2006/relationships/notesSlide" Target="/ppt/notesSlides/notesSlide6.xml" Id="R98aca2982f5443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cb6cc2bfa4e8e" /><Relationship Type="http://schemas.openxmlformats.org/officeDocument/2006/relationships/image" Target="/ppt/media/image12.png" Id="R8f5eda870c934c1d" /><Relationship Type="http://schemas.openxmlformats.org/officeDocument/2006/relationships/image" Target="/ppt/media/image13.png" Id="R2abe715994ec4ce7" /><Relationship Type="http://schemas.openxmlformats.org/officeDocument/2006/relationships/image" Target="/ppt/media/image14.png" Id="R8ef6db83df494cdd" /><Relationship Type="http://schemas.openxmlformats.org/officeDocument/2006/relationships/image" Target="/ppt/media/image10.png" Id="Rb1f56d90d199417f" /><Relationship Type="http://schemas.openxmlformats.org/officeDocument/2006/relationships/image" Target="/ppt/media/image15.png" Id="Ra7eaa6d614b945a4" /><Relationship Type="http://schemas.openxmlformats.org/officeDocument/2006/relationships/image" Target="/ppt/media/image4.png" Id="Rc07c2ba7ee2b4705" /><Relationship Type="http://schemas.openxmlformats.org/officeDocument/2006/relationships/notesSlide" Target="/ppt/notesSlides/notesSlide7.xml" Id="R6051205bb5df4c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2a04a3e664092" /><Relationship Type="http://schemas.openxmlformats.org/officeDocument/2006/relationships/image" Target="/ppt/media/image16.png" Id="R357e0633987244f8" /><Relationship Type="http://schemas.openxmlformats.org/officeDocument/2006/relationships/image" Target="/ppt/media/image17.png" Id="R7e6a239621694e2e" /><Relationship Type="http://schemas.openxmlformats.org/officeDocument/2006/relationships/image" Target="/ppt/media/image18.png" Id="Ra56758cf819a4046" /><Relationship Type="http://schemas.openxmlformats.org/officeDocument/2006/relationships/image" Target="/ppt/media/image3.png" Id="Rc7e83005d1a145b5" /><Relationship Type="http://schemas.openxmlformats.org/officeDocument/2006/relationships/image" Target="/ppt/media/image6.png" Id="R4919ae053c634cd6" /><Relationship Type="http://schemas.openxmlformats.org/officeDocument/2006/relationships/image" Target="/ppt/media/image8.png" Id="R71cf386978104557" /><Relationship Type="http://schemas.openxmlformats.org/officeDocument/2006/relationships/notesSlide" Target="/ppt/notesSlides/notesSlide8.xml" Id="R94b2a1db5bd542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13aecda9d491a" /><Relationship Type="http://schemas.openxmlformats.org/officeDocument/2006/relationships/image" Target="/ppt/media/image19.png" Id="Rb86c1047bc1a42e1" /><Relationship Type="http://schemas.openxmlformats.org/officeDocument/2006/relationships/image" Target="/ppt/media/image15.png" Id="Rcd092801d41545b4" /><Relationship Type="http://schemas.openxmlformats.org/officeDocument/2006/relationships/image" Target="/ppt/media/image20.png" Id="Rec652afe1f5746a2" /><Relationship Type="http://schemas.openxmlformats.org/officeDocument/2006/relationships/image" Target="/ppt/media/image12.png" Id="R14ee0d59eb0746e3" /><Relationship Type="http://schemas.openxmlformats.org/officeDocument/2006/relationships/image" Target="/ppt/media/image6.png" Id="Rbbf58710abc54892" /><Relationship Type="http://schemas.openxmlformats.org/officeDocument/2006/relationships/image" Target="/ppt/media/image18.png" Id="R2c6fbfee13314293" /><Relationship Type="http://schemas.openxmlformats.org/officeDocument/2006/relationships/image" Target="/ppt/media/image3.png" Id="Rc16186ac5d52430c" /><Relationship Type="http://schemas.openxmlformats.org/officeDocument/2006/relationships/image" Target="/ppt/media/image8.png" Id="R715856c2e68e4add" /><Relationship Type="http://schemas.openxmlformats.org/officeDocument/2006/relationships/image" Target="/ppt/media/image5.png" Id="Rb11f296a77b84c5b" /><Relationship Type="http://schemas.openxmlformats.org/officeDocument/2006/relationships/notesSlide" Target="/ppt/notesSlides/notesSlide9.xml" Id="R000028a65de541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25a88794d43f6" /><Relationship Type="http://schemas.openxmlformats.org/officeDocument/2006/relationships/image" Target="/ppt/media/image8.png" Id="Rcd9d47c1244c495c" /><Relationship Type="http://schemas.openxmlformats.org/officeDocument/2006/relationships/image" Target="/ppt/media/image6.png" Id="R29586aa1936f40a8" /><Relationship Type="http://schemas.openxmlformats.org/officeDocument/2006/relationships/image" Target="/ppt/media/image21.png" Id="R51c3e58c54b7470f" /><Relationship Type="http://schemas.openxmlformats.org/officeDocument/2006/relationships/image" Target="/ppt/media/image4.png" Id="R6ecd5cd773364fe0" /><Relationship Type="http://schemas.openxmlformats.org/officeDocument/2006/relationships/image" Target="/ppt/media/image19.png" Id="R332801f85db94dbf" /><Relationship Type="http://schemas.openxmlformats.org/officeDocument/2006/relationships/image" Target="/ppt/media/image3.png" Id="R9753f57d82d34fee" /><Relationship Type="http://schemas.openxmlformats.org/officeDocument/2006/relationships/notesSlide" Target="/ppt/notesSlides/notesSlide10.xml" Id="R92b1ff12fb9d4a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1ba04823a41e8" /><Relationship Type="http://schemas.openxmlformats.org/officeDocument/2006/relationships/image" Target="/ppt/media/image22.png" Id="Rf107ee486e7f468b" /><Relationship Type="http://schemas.openxmlformats.org/officeDocument/2006/relationships/image" Target="/ppt/media/image23.png" Id="R4f27a13dd0fb43f1" /><Relationship Type="http://schemas.openxmlformats.org/officeDocument/2006/relationships/image" Target="/ppt/media/image24.png" Id="Rc5e0340fa5944522" /><Relationship Type="http://schemas.openxmlformats.org/officeDocument/2006/relationships/image" Target="/ppt/media/image12.png" Id="R1345930582e94367" /><Relationship Type="http://schemas.openxmlformats.org/officeDocument/2006/relationships/image" Target="/ppt/media/image14.png" Id="Rebbfe6942e104be0" /><Relationship Type="http://schemas.openxmlformats.org/officeDocument/2006/relationships/image" Target="/ppt/media/image10.png" Id="R09f57c9590f34dc1" /><Relationship Type="http://schemas.openxmlformats.org/officeDocument/2006/relationships/image" Target="/ppt/media/image15.png" Id="Rd531731d0d444f59" /><Relationship Type="http://schemas.openxmlformats.org/officeDocument/2006/relationships/image" Target="/ppt/media/image4.png" Id="R09a0c648d4104d2b" /><Relationship Type="http://schemas.openxmlformats.org/officeDocument/2006/relationships/image" Target="/ppt/media/image11.png" Id="R4f01afca0ea44809" /><Relationship Type="http://schemas.openxmlformats.org/officeDocument/2006/relationships/notesSlide" Target="/ppt/notesSlides/notesSlide11.xml" Id="Rf0a78beb66854e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933e69fd844a9" /><Relationship Type="http://schemas.openxmlformats.org/officeDocument/2006/relationships/image" Target="/ppt/media/image23.png" Id="Rbe1cad8365544e3c" /><Relationship Type="http://schemas.openxmlformats.org/officeDocument/2006/relationships/image" Target="/ppt/media/image24.png" Id="R0ffdfc2b66914851" /><Relationship Type="http://schemas.openxmlformats.org/officeDocument/2006/relationships/image" Target="/ppt/media/image19.png" Id="R2ecacfff956d47fb" /><Relationship Type="http://schemas.openxmlformats.org/officeDocument/2006/relationships/image" Target="/ppt/media/image13.png" Id="R13c5d57c0c9943d2" /><Relationship Type="http://schemas.openxmlformats.org/officeDocument/2006/relationships/image" Target="/ppt/media/image14.png" Id="R010bd0346458467e" /><Relationship Type="http://schemas.openxmlformats.org/officeDocument/2006/relationships/image" Target="/ppt/media/image10.png" Id="Rf092472dca8649c1" /><Relationship Type="http://schemas.openxmlformats.org/officeDocument/2006/relationships/image" Target="/ppt/media/image15.png" Id="Rde0b145bf8544661" /><Relationship Type="http://schemas.openxmlformats.org/officeDocument/2006/relationships/image" Target="/ppt/media/image4.png" Id="R14496d15e3404170" /><Relationship Type="http://schemas.openxmlformats.org/officeDocument/2006/relationships/image" Target="/ppt/media/image11.png" Id="Ra26f5bc1b831449e" /><Relationship Type="http://schemas.openxmlformats.org/officeDocument/2006/relationships/notesSlide" Target="/ppt/notesSlides/notesSlide12.xml" Id="R0ff22bd247c948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e46ac483341a2" /><Relationship Type="http://schemas.openxmlformats.org/officeDocument/2006/relationships/notesSlide" Target="/ppt/notesSlides/notesSlide13.xml" Id="R87e587408de040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445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3">
            <a:extLst xmlns:a="http://schemas.openxmlformats.org/drawingml/2006/main">
              <a:ext uri="{FF2B5EF4-FFF2-40B4-BE49-F238E27FC236}">
                <a16:creationId xmlns:a16="http://schemas.microsoft.com/office/drawing/2014/main" id="{65194A08-AA1C-4501-9F11-236623BC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-118872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>
              <a:alpha val="2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" name="Google Shape;13;p3">
            <a:extLst xmlns:a="http://schemas.openxmlformats.org/drawingml/2006/main">
              <a:ext uri="{FF2B5EF4-FFF2-40B4-BE49-F238E27FC236}">
                <a16:creationId xmlns:a16="http://schemas.microsoft.com/office/drawing/2014/main" id="{A9C97604-4AAF-4267-98C0-0160C11F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80160" y="3291840"/>
            <a:ext cx="3108960" cy="3108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>
              <a:alpha val="2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E61EF186-14B7-42E1-AD02-D1377859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4" name="Google Shape;15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2bc1b7ee9446d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3290" y="586130"/>
            <a:ext cx="473659" cy="4736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BEFEBDC4-3CD3-4126-A080-42726373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BSIT-3D | COLLEGE OF COMPUTER STUDIES</a:t>
            </a: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A8B059CF-0F2B-48EE-AA0D-C91D3C12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91640"/>
            <a:ext cx="7863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CLINiQ</a:t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73588A66-82D5-4E80-898B-58864191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694944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CADCE0"/>
                </a:solidFill>
                <a:latin typeface="Calibri"/>
                <a:ea typeface="Calibri"/>
                <a:cs typeface="Calibri"/>
              </a:rPr>
              <a:t>A Smart Clinic Information Management System with QR/NFC Patient Health Passport and Nurse Alerting for the Clinic of PLP</a:t>
            </a: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F20446E0-8480-4A90-BAC6-1D0F02C7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33672"/>
            <a:ext cx="25146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Bumacod, Najil J.</a:t>
            </a: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0F402E5A-391F-4E45-ACFD-8FEC4913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233672"/>
            <a:ext cx="25146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Cainglet, Jan Alain S.</a:t>
            </a:r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826B83AE-2BEC-400C-A336-40DF43A3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33672"/>
            <a:ext cx="25146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Faustino, Justine Angelo B.</a:t>
            </a:r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472159BF-1F76-4005-BC38-B80373AA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17720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9FC5CC"/>
                </a:solidFill>
                <a:latin typeface="Calibri"/>
                <a:ea typeface="Calibri"/>
                <a:cs typeface="Calibri"/>
              </a:rPr>
              <a:t>Pamantasan ng Lungsod ng Pasig  </a:t>
            </a:r>
            <a:r>
              <a:rPr sz="1100">
                <a:solidFill>
                  <a:srgbClr val="9FC5CC"/>
                </a:solidFill>
                <a:latin typeface="Calibri"/>
                <a:ea typeface="Calibri"/>
                <a:cs typeface="Calibri"/>
              </a:rPr>
              <a:t>|  College of Computer Studies</a:t>
            </a:r>
          </a:p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7DCF7B49-6F58-41DC-8E38-C755F805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431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CLINiQ</a:t>
            </a:r>
          </a:p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F2F9744E-B3B9-447A-9707-B205A85F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43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5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9C5AE34A-ECE1-475C-ADE1-844BD1AA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000" y="3494200"/>
            <a:ext cx="766800" cy="765000"/>
          </a:xfrm>
          <a:prstGeom xmlns:a="http://schemas.openxmlformats.org/drawingml/2006/main" prst="bevel">
            <a:avLst>
              <a:gd name="adj" fmla="val 1250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 w="9525" cmpd="sng">
            <a:solidFill>
              <a:schemeClr val="dk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" name="Google Shape;26;p3">
            <a:extLst xmlns:a="http://schemas.openxmlformats.org/drawingml/2006/main">
              <a:ext uri="{FF2B5EF4-FFF2-40B4-BE49-F238E27FC236}">
                <a16:creationId xmlns:a16="http://schemas.microsoft.com/office/drawing/2014/main" id="{895EFA71-7E91-4C46-9B9B-7B8CE8DC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125" y="3494425"/>
            <a:ext cx="811200" cy="765000"/>
          </a:xfrm>
          <a:prstGeom xmlns:a="http://schemas.openxmlformats.org/drawingml/2006/main" prst="bevel">
            <a:avLst>
              <a:gd name="adj" fmla="val 1250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 w="9525" cmpd="sng">
            <a:solidFill>
              <a:schemeClr val="dk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" name="Google Shape;27;p3">
            <a:extLst xmlns:a="http://schemas.openxmlformats.org/drawingml/2006/main">
              <a:ext uri="{FF2B5EF4-FFF2-40B4-BE49-F238E27FC236}">
                <a16:creationId xmlns:a16="http://schemas.microsoft.com/office/drawing/2014/main" id="{C8E82059-8133-4791-B27A-85CB2CC0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350" y="3494488"/>
            <a:ext cx="844800" cy="765000"/>
          </a:xfrm>
          <a:prstGeom xmlns:a="http://schemas.openxmlformats.org/drawingml/2006/main" prst="bevel">
            <a:avLst>
              <a:gd name="adj" fmla="val 1250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 w="9525" cmpd="sng">
            <a:solidFill>
              <a:schemeClr val="dk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47" name="Google Shape;28;p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c5a1d5c274e9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14012" y="3494411"/>
            <a:ext cx="766724" cy="765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Google Shape;29;p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e82439d864b5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18124" y="3494413"/>
            <a:ext cx="844914" cy="7651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81188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A4A323D4-9C92-4ED5-9F95-9A827C44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0B2E33"/>
                </a:solidFill>
                <a:latin typeface="Cambria"/>
                <a:ea typeface="Cambria"/>
                <a:cs typeface="Cambria"/>
              </a:rPr>
              <a:t>Introduction</a:t>
            </a: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9E8E2AF8-B0F8-4AE7-83D7-96051003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144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What CLINiQ is, and why it was developed</a:t>
            </a: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C9383E48-9ABF-4644-8342-126E69F7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3931920" cy="32004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5445E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E79DFA7F-D1C2-4782-873C-410D8AE1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3736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67" name="Google Shape;39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5e3be49e53c43a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7834" y="1826514"/>
            <a:ext cx="507492" cy="50749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" name="Google Shape;40;p4">
            <a:extLst xmlns:a="http://schemas.openxmlformats.org/drawingml/2006/main">
              <a:ext uri="{FF2B5EF4-FFF2-40B4-BE49-F238E27FC236}">
                <a16:creationId xmlns:a16="http://schemas.microsoft.com/office/drawing/2014/main" id="{ED07A41E-BAC2-4244-AA6B-0681FD09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0604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web-based school clinic information management system</a:t>
            </a:r>
          </a:p>
        </p:txBody>
      </p:sp>
      <p:sp>
        <p:nvSpPr>
          <p:cNvPr id="41" name="Google Shape;41;p4">
            <a:extLst xmlns:a="http://schemas.openxmlformats.org/drawingml/2006/main">
              <a:ext uri="{FF2B5EF4-FFF2-40B4-BE49-F238E27FC236}">
                <a16:creationId xmlns:a16="http://schemas.microsoft.com/office/drawing/2014/main" id="{D6D52644-D4F8-4464-92C6-1C84B818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333756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CADCE0"/>
                </a:solidFill>
                <a:latin typeface="Calibri"/>
                <a:ea typeface="Calibri"/>
                <a:cs typeface="Calibri"/>
              </a:rPr>
              <a:t>Purpose-built for the Clinic of Pamantasan ng Lungsod ng Pasig (PLP)</a:t>
            </a:r>
          </a:p>
        </p:txBody>
      </p:sp>
      <p:sp>
        <p:nvSpPr>
          <p:cNvPr id="42" name="Google Shape;42;p4">
            <a:extLst xmlns:a="http://schemas.openxmlformats.org/drawingml/2006/main">
              <a:ext uri="{FF2B5EF4-FFF2-40B4-BE49-F238E27FC236}">
                <a16:creationId xmlns:a16="http://schemas.microsoft.com/office/drawing/2014/main" id="{1B550E09-4495-4577-AD11-3361CC88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417320"/>
            <a:ext cx="3886200" cy="941832"/>
          </a:xfrm>
          <a:prstGeom xmlns:a="http://schemas.openxmlformats.org/drawingml/2006/main" prst="roundRect">
            <a:avLst>
              <a:gd name="adj" fmla="val 97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" name="Google Shape;43;p4">
            <a:extLst xmlns:a="http://schemas.openxmlformats.org/drawingml/2006/main">
              <a:ext uri="{FF2B5EF4-FFF2-40B4-BE49-F238E27FC236}">
                <a16:creationId xmlns:a16="http://schemas.microsoft.com/office/drawing/2014/main" id="{76BAEB45-20B7-4DC9-B224-6FB9ED41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6002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72" name="Google Shape;44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db534e37244a4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63363" y="1671523"/>
            <a:ext cx="405994" cy="4059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5" name="Google Shape;45;p4">
            <a:extLst xmlns:a="http://schemas.openxmlformats.org/drawingml/2006/main">
              <a:ext uri="{FF2B5EF4-FFF2-40B4-BE49-F238E27FC236}">
                <a16:creationId xmlns:a16="http://schemas.microsoft.com/office/drawing/2014/main" id="{C867D995-75D0-442C-8ED8-F7B74DB6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508760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Improves clinic documentation</a:t>
            </a:r>
          </a:p>
        </p:txBody>
      </p:sp>
      <p:sp>
        <p:nvSpPr>
          <p:cNvPr id="46" name="Google Shape;46;p4">
            <a:extLst xmlns:a="http://schemas.openxmlformats.org/drawingml/2006/main">
              <a:ext uri="{FF2B5EF4-FFF2-40B4-BE49-F238E27FC236}">
                <a16:creationId xmlns:a16="http://schemas.microsoft.com/office/drawing/2014/main" id="{277E8D81-93F2-4094-A064-7478092B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828800"/>
            <a:ext cx="288036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Centralizes patient profiles, visits, APE status, appointments, alerts, inventory, and reports.</a:t>
            </a:r>
          </a:p>
        </p:txBody>
      </p:sp>
      <p:sp>
        <p:nvSpPr>
          <p:cNvPr id="47" name="Google Shape;47;p4">
            <a:extLst xmlns:a="http://schemas.openxmlformats.org/drawingml/2006/main">
              <a:ext uri="{FF2B5EF4-FFF2-40B4-BE49-F238E27FC236}">
                <a16:creationId xmlns:a16="http://schemas.microsoft.com/office/drawing/2014/main" id="{6E0CF35D-6C09-4B32-855A-3C3C7205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96312"/>
            <a:ext cx="3886200" cy="941832"/>
          </a:xfrm>
          <a:prstGeom xmlns:a="http://schemas.openxmlformats.org/drawingml/2006/main" prst="roundRect">
            <a:avLst>
              <a:gd name="adj" fmla="val 97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8" name="Google Shape;48;p4">
            <a:extLst xmlns:a="http://schemas.openxmlformats.org/drawingml/2006/main">
              <a:ext uri="{FF2B5EF4-FFF2-40B4-BE49-F238E27FC236}">
                <a16:creationId xmlns:a16="http://schemas.microsoft.com/office/drawing/2014/main" id="{98AD540B-B19A-4F24-9A6D-D5D46CFF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67919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77" name="Google Shape;49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8c190d582346d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63363" y="2750515"/>
            <a:ext cx="405994" cy="4059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0" name="Google Shape;50;p4">
            <a:extLst xmlns:a="http://schemas.openxmlformats.org/drawingml/2006/main">
              <a:ext uri="{FF2B5EF4-FFF2-40B4-BE49-F238E27FC236}">
                <a16:creationId xmlns:a16="http://schemas.microsoft.com/office/drawing/2014/main" id="{A2F635B7-1062-499C-8874-760A057B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587752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Strengthens clinic response</a:t>
            </a:r>
          </a:p>
        </p:txBody>
      </p:sp>
      <p:sp>
        <p:nvSpPr>
          <p:cNvPr id="51" name="Google Shape;51;p4">
            <a:extLst xmlns:a="http://schemas.openxmlformats.org/drawingml/2006/main">
              <a:ext uri="{FF2B5EF4-FFF2-40B4-BE49-F238E27FC236}">
                <a16:creationId xmlns:a16="http://schemas.microsoft.com/office/drawing/2014/main" id="{19D88CAD-FEF3-4F5B-A29B-40585A32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907792"/>
            <a:ext cx="288036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Gives staff faster access to records, risk levels, alerts, and emergency-approved information.</a:t>
            </a:r>
          </a:p>
        </p:txBody>
      </p:sp>
      <p:sp>
        <p:nvSpPr>
          <p:cNvPr id="52" name="Google Shape;52;p4">
            <a:extLst xmlns:a="http://schemas.openxmlformats.org/drawingml/2006/main">
              <a:ext uri="{FF2B5EF4-FFF2-40B4-BE49-F238E27FC236}">
                <a16:creationId xmlns:a16="http://schemas.microsoft.com/office/drawing/2014/main" id="{54184C4C-0B2F-4E7C-9C53-A93DECFF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575304"/>
            <a:ext cx="3886200" cy="941832"/>
          </a:xfrm>
          <a:prstGeom xmlns:a="http://schemas.openxmlformats.org/drawingml/2006/main" prst="roundRect">
            <a:avLst>
              <a:gd name="adj" fmla="val 97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3" name="Google Shape;53;p4">
            <a:extLst xmlns:a="http://schemas.openxmlformats.org/drawingml/2006/main">
              <a:ext uri="{FF2B5EF4-FFF2-40B4-BE49-F238E27FC236}">
                <a16:creationId xmlns:a16="http://schemas.microsoft.com/office/drawing/2014/main" id="{A827A518-FF68-455A-9084-3F61CD25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758184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82" name="Google Shape;54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1e4810f1dd4a6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63363" y="3829507"/>
            <a:ext cx="405994" cy="4059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5" name="Google Shape;55;p4">
            <a:extLst xmlns:a="http://schemas.openxmlformats.org/drawingml/2006/main">
              <a:ext uri="{FF2B5EF4-FFF2-40B4-BE49-F238E27FC236}">
                <a16:creationId xmlns:a16="http://schemas.microsoft.com/office/drawing/2014/main" id="{BFF1C7D1-AF9F-4801-A040-3E414FE1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666744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Supports staff and students</a:t>
            </a:r>
          </a:p>
        </p:txBody>
      </p:sp>
      <p:sp>
        <p:nvSpPr>
          <p:cNvPr id="56" name="Google Shape;56;p4">
            <a:extLst xmlns:a="http://schemas.openxmlformats.org/drawingml/2006/main">
              <a:ext uri="{FF2B5EF4-FFF2-40B4-BE49-F238E27FC236}">
                <a16:creationId xmlns:a16="http://schemas.microsoft.com/office/drawing/2014/main" id="{F7CADFFD-1835-412D-A972-7EF4CA38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986784"/>
            <a:ext cx="288036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Includes a staff portal, student portal, self-logbook, and tokenized emergency passport flow.</a:t>
            </a:r>
          </a:p>
        </p:txBody>
      </p:sp>
      <p:sp>
        <p:nvSpPr>
          <p:cNvPr id="57" name="Google Shape;57;p4">
            <a:extLst xmlns:a="http://schemas.openxmlformats.org/drawingml/2006/main">
              <a:ext uri="{FF2B5EF4-FFF2-40B4-BE49-F238E27FC236}">
                <a16:creationId xmlns:a16="http://schemas.microsoft.com/office/drawing/2014/main" id="{C58679D6-D30A-466F-9ED3-0A62B368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431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CLINiQ </a:t>
            </a:r>
          </a:p>
        </p:txBody>
      </p:sp>
      <p:sp>
        <p:nvSpPr>
          <p:cNvPr id="58" name="Google Shape;58;p4">
            <a:extLst xmlns:a="http://schemas.openxmlformats.org/drawingml/2006/main">
              <a:ext uri="{FF2B5EF4-FFF2-40B4-BE49-F238E27FC236}">
                <a16:creationId xmlns:a16="http://schemas.microsoft.com/office/drawing/2014/main" id="{97B3B1BB-4C33-4035-B926-D9DD34C7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43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231474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Google Shape;64;p5">
            <a:extLst xmlns:a="http://schemas.openxmlformats.org/drawingml/2006/main">
              <a:ext uri="{FF2B5EF4-FFF2-40B4-BE49-F238E27FC236}">
                <a16:creationId xmlns:a16="http://schemas.microsoft.com/office/drawing/2014/main" id="{6E66003E-CEA5-48CF-A5BA-843ADFF2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7724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B2E33"/>
                </a:solidFill>
                <a:latin typeface="Cambria"/>
                <a:ea typeface="Cambria"/>
                <a:cs typeface="Cambria"/>
              </a:rPr>
              <a:t>Background of the Study</a:t>
            </a:r>
          </a:p>
        </p:txBody>
      </p:sp>
      <p:sp>
        <p:nvSpPr>
          <p:cNvPr id="65" name="Google Shape;65;p5">
            <a:extLst xmlns:a="http://schemas.openxmlformats.org/drawingml/2006/main">
              <a:ext uri="{FF2B5EF4-FFF2-40B4-BE49-F238E27FC236}">
                <a16:creationId xmlns:a16="http://schemas.microsoft.com/office/drawing/2014/main" id="{F9DC4A76-FC45-413E-BE09-C3EC79F1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144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Where manual clinic processes fall short</a:t>
            </a:r>
          </a:p>
        </p:txBody>
      </p:sp>
      <p:sp>
        <p:nvSpPr>
          <p:cNvPr id="66" name="Google Shape;66;p5">
            <a:extLst xmlns:a="http://schemas.openxmlformats.org/drawingml/2006/main">
              <a:ext uri="{FF2B5EF4-FFF2-40B4-BE49-F238E27FC236}">
                <a16:creationId xmlns:a16="http://schemas.microsoft.com/office/drawing/2014/main" id="{24F8E065-8A14-4331-94D2-96697F2D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17320"/>
            <a:ext cx="3794760" cy="329184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7" name="Google Shape;67;p5">
            <a:extLst xmlns:a="http://schemas.openxmlformats.org/drawingml/2006/main">
              <a:ext uri="{FF2B5EF4-FFF2-40B4-BE49-F238E27FC236}">
                <a16:creationId xmlns:a16="http://schemas.microsoft.com/office/drawing/2014/main" id="{A840C01E-95BA-4FD7-86E8-6087E593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0020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C1440E"/>
                </a:solidFill>
                <a:latin typeface="Calibri"/>
                <a:ea typeface="Calibri"/>
                <a:cs typeface="Calibri"/>
              </a:rPr>
              <a:t>THE PROBLEM</a:t>
            </a:r>
          </a:p>
        </p:txBody>
      </p:sp>
      <p:sp>
        <p:nvSpPr>
          <p:cNvPr id="68" name="Google Shape;68;p5">
            <a:extLst xmlns:a="http://schemas.openxmlformats.org/drawingml/2006/main">
              <a:ext uri="{FF2B5EF4-FFF2-40B4-BE49-F238E27FC236}">
                <a16:creationId xmlns:a16="http://schemas.microsoft.com/office/drawing/2014/main" id="{C4AC29A3-4654-450C-B3A4-A359D3A6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440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9" name="Google Shape;69;p5">
            <a:extLst xmlns:a="http://schemas.openxmlformats.org/drawingml/2006/main">
              <a:ext uri="{FF2B5EF4-FFF2-40B4-BE49-F238E27FC236}">
                <a16:creationId xmlns:a16="http://schemas.microsoft.com/office/drawing/2014/main" id="{5DEF28F0-15EB-4A4B-84B9-83F23636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956816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Clinic records rely heavily on paper</a:t>
            </a:r>
          </a:p>
        </p:txBody>
      </p:sp>
      <p:sp>
        <p:nvSpPr>
          <p:cNvPr id="70" name="Google Shape;70;p5">
            <a:extLst xmlns:a="http://schemas.openxmlformats.org/drawingml/2006/main">
              <a:ext uri="{FF2B5EF4-FFF2-40B4-BE49-F238E27FC236}">
                <a16:creationId xmlns:a16="http://schemas.microsoft.com/office/drawing/2014/main" id="{1BA8CF8D-89D9-479E-AAE9-7A77982B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6032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440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1" name="Google Shape;71;p5">
            <a:extLst xmlns:a="http://schemas.openxmlformats.org/drawingml/2006/main">
              <a:ext uri="{FF2B5EF4-FFF2-40B4-BE49-F238E27FC236}">
                <a16:creationId xmlns:a16="http://schemas.microsoft.com/office/drawing/2014/main" id="{0B4A7E3E-695D-4253-B5B3-248C5474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459736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Delays retrieving patient information</a:t>
            </a:r>
          </a:p>
        </p:txBody>
      </p:sp>
      <p:sp>
        <p:nvSpPr>
          <p:cNvPr id="72" name="Google Shape;72;p5">
            <a:extLst xmlns:a="http://schemas.openxmlformats.org/drawingml/2006/main">
              <a:ext uri="{FF2B5EF4-FFF2-40B4-BE49-F238E27FC236}">
                <a16:creationId xmlns:a16="http://schemas.microsoft.com/office/drawing/2014/main" id="{2B815C1B-24EF-4ED2-8F84-26CD4895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6324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440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3" name="Google Shape;73;p5">
            <a:extLst xmlns:a="http://schemas.openxmlformats.org/drawingml/2006/main">
              <a:ext uri="{FF2B5EF4-FFF2-40B4-BE49-F238E27FC236}">
                <a16:creationId xmlns:a16="http://schemas.microsoft.com/office/drawing/2014/main" id="{7679E88C-2ED4-44AF-A1A2-77EB9760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62656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Incomplete documentation</a:t>
            </a:r>
          </a:p>
        </p:txBody>
      </p:sp>
      <p:sp>
        <p:nvSpPr>
          <p:cNvPr id="74" name="Google Shape;74;p5">
            <a:extLst xmlns:a="http://schemas.openxmlformats.org/drawingml/2006/main">
              <a:ext uri="{FF2B5EF4-FFF2-40B4-BE49-F238E27FC236}">
                <a16:creationId xmlns:a16="http://schemas.microsoft.com/office/drawing/2014/main" id="{781B5B60-505A-4D8B-B834-C83993D5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6616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440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5" name="Google Shape;75;p5">
            <a:extLst xmlns:a="http://schemas.openxmlformats.org/drawingml/2006/main">
              <a:ext uri="{FF2B5EF4-FFF2-40B4-BE49-F238E27FC236}">
                <a16:creationId xmlns:a16="http://schemas.microsoft.com/office/drawing/2014/main" id="{44244F91-DB5A-4F64-B186-A6BEACA5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65576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Difficulties in emergency response</a:t>
            </a:r>
          </a:p>
        </p:txBody>
      </p:sp>
      <p:sp>
        <p:nvSpPr>
          <p:cNvPr id="76" name="Google Shape;76;p5">
            <a:extLst xmlns:a="http://schemas.openxmlformats.org/drawingml/2006/main">
              <a:ext uri="{FF2B5EF4-FFF2-40B4-BE49-F238E27FC236}">
                <a16:creationId xmlns:a16="http://schemas.microsoft.com/office/drawing/2014/main" id="{8920EA49-5CC9-46CA-ABBE-F711F954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6908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440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7" name="Google Shape;77;p5">
            <a:extLst xmlns:a="http://schemas.openxmlformats.org/drawingml/2006/main">
              <a:ext uri="{FF2B5EF4-FFF2-40B4-BE49-F238E27FC236}">
                <a16:creationId xmlns:a16="http://schemas.microsoft.com/office/drawing/2014/main" id="{E0C36EDE-187A-4C50-8CB1-8BE6CD4E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68496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Challenges prioritizing patients</a:t>
            </a:r>
          </a:p>
        </p:txBody>
      </p:sp>
      <p:sp>
        <p:nvSpPr>
          <p:cNvPr id="78" name="Google Shape;78;p5">
            <a:extLst xmlns:a="http://schemas.openxmlformats.org/drawingml/2006/main">
              <a:ext uri="{FF2B5EF4-FFF2-40B4-BE49-F238E27FC236}">
                <a16:creationId xmlns:a16="http://schemas.microsoft.com/office/drawing/2014/main" id="{9119804C-378C-44A4-BCA6-F4D72CDB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7889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15" name="Google Shape;79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0102159e4a49d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436212" y="2854300"/>
            <a:ext cx="372161" cy="37216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0" name="Google Shape;80;p5">
            <a:extLst xmlns:a="http://schemas.openxmlformats.org/drawingml/2006/main">
              <a:ext uri="{FF2B5EF4-FFF2-40B4-BE49-F238E27FC236}">
                <a16:creationId xmlns:a16="http://schemas.microsoft.com/office/drawing/2014/main" id="{0FB73D07-CD45-40D3-A358-728181D0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417320"/>
            <a:ext cx="3657600" cy="329184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5445E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1" name="Google Shape;81;p5">
            <a:extLst xmlns:a="http://schemas.openxmlformats.org/drawingml/2006/main">
              <a:ext uri="{FF2B5EF4-FFF2-40B4-BE49-F238E27FC236}">
                <a16:creationId xmlns:a16="http://schemas.microsoft.com/office/drawing/2014/main" id="{D0BB9BBF-81FC-485B-B897-08019055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600200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THE CLINiQ SOLUTION</a:t>
            </a:r>
          </a:p>
        </p:txBody>
      </p:sp>
      <p:pic>
        <p:nvPicPr>
          <p:cNvPr id="118" name="Google Shape;82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75164ce6614b7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03520" y="2011680"/>
            <a:ext cx="201168" cy="2011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3" name="Google Shape;83;p5">
            <a:extLst xmlns:a="http://schemas.openxmlformats.org/drawingml/2006/main">
              <a:ext uri="{FF2B5EF4-FFF2-40B4-BE49-F238E27FC236}">
                <a16:creationId xmlns:a16="http://schemas.microsoft.com/office/drawing/2014/main" id="{0DEADFE2-AA58-40C2-ADCF-3FE4AADE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65960"/>
            <a:ext cx="28803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Centralized electronic health records</a:t>
            </a:r>
          </a:p>
        </p:txBody>
      </p:sp>
      <p:pic>
        <p:nvPicPr>
          <p:cNvPr id="120" name="Google Shape;8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75164ce6614b7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03520" y="2514600"/>
            <a:ext cx="201168" cy="2011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5" name="Google Shape;85;p5">
            <a:extLst xmlns:a="http://schemas.openxmlformats.org/drawingml/2006/main">
              <a:ext uri="{FF2B5EF4-FFF2-40B4-BE49-F238E27FC236}">
                <a16:creationId xmlns:a16="http://schemas.microsoft.com/office/drawing/2014/main" id="{FF1E42E4-390C-4916-A96E-6513F769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68880"/>
            <a:ext cx="28803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Searchable patient profiles and visit history</a:t>
            </a:r>
          </a:p>
        </p:txBody>
      </p:sp>
      <p:pic>
        <p:nvPicPr>
          <p:cNvPr id="122" name="Google Shape;86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75164ce6614b7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03520" y="3017520"/>
            <a:ext cx="201168" cy="2011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7" name="Google Shape;87;p5">
            <a:extLst xmlns:a="http://schemas.openxmlformats.org/drawingml/2006/main">
              <a:ext uri="{FF2B5EF4-FFF2-40B4-BE49-F238E27FC236}">
                <a16:creationId xmlns:a16="http://schemas.microsoft.com/office/drawing/2014/main" id="{ADA9E806-AF5A-4A3A-93E8-3D76314B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971800"/>
            <a:ext cx="28803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Structured documentation for visits and APE</a:t>
            </a:r>
          </a:p>
        </p:txBody>
      </p:sp>
      <p:pic>
        <p:nvPicPr>
          <p:cNvPr id="124" name="Google Shape;88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75164ce6614b7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03520" y="3520440"/>
            <a:ext cx="201168" cy="2011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9" name="Google Shape;89;p5">
            <a:extLst xmlns:a="http://schemas.openxmlformats.org/drawingml/2006/main">
              <a:ext uri="{FF2B5EF4-FFF2-40B4-BE49-F238E27FC236}">
                <a16:creationId xmlns:a16="http://schemas.microsoft.com/office/drawing/2014/main" id="{B6AE8506-61D4-4CBD-A8EA-F1403025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74720"/>
            <a:ext cx="28803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QR/NFC-ready passport + nurse alerts</a:t>
            </a:r>
          </a:p>
        </p:txBody>
      </p:sp>
      <p:pic>
        <p:nvPicPr>
          <p:cNvPr id="126" name="Google Shape;90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75164ce6614b7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03520" y="4023360"/>
            <a:ext cx="201168" cy="2011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1" name="Google Shape;91;p5">
            <a:extLst xmlns:a="http://schemas.openxmlformats.org/drawingml/2006/main">
              <a:ext uri="{FF2B5EF4-FFF2-40B4-BE49-F238E27FC236}">
                <a16:creationId xmlns:a16="http://schemas.microsoft.com/office/drawing/2014/main" id="{D1B3A1ED-E22A-4146-B9CB-9A7913D3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977640"/>
            <a:ext cx="28803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Transparent rule-based risk classification</a:t>
            </a:r>
          </a:p>
        </p:txBody>
      </p:sp>
      <p:sp>
        <p:nvSpPr>
          <p:cNvPr id="92" name="Google Shape;92;p5">
            <a:extLst xmlns:a="http://schemas.openxmlformats.org/drawingml/2006/main">
              <a:ext uri="{FF2B5EF4-FFF2-40B4-BE49-F238E27FC236}">
                <a16:creationId xmlns:a16="http://schemas.microsoft.com/office/drawing/2014/main" id="{F0400B54-16BD-4E14-9C54-5E896A2F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431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CLINiQ</a:t>
            </a:r>
          </a:p>
        </p:txBody>
      </p:sp>
      <p:sp>
        <p:nvSpPr>
          <p:cNvPr id="93" name="Google Shape;93;p5">
            <a:extLst xmlns:a="http://schemas.openxmlformats.org/drawingml/2006/main">
              <a:ext uri="{FF2B5EF4-FFF2-40B4-BE49-F238E27FC236}">
                <a16:creationId xmlns:a16="http://schemas.microsoft.com/office/drawing/2014/main" id="{9A22DDFC-1B21-4F69-91B1-BDD7530A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43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223311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Google Shape;99;p6">
            <a:extLst xmlns:a="http://schemas.openxmlformats.org/drawingml/2006/main">
              <a:ext uri="{FF2B5EF4-FFF2-40B4-BE49-F238E27FC236}">
                <a16:creationId xmlns:a16="http://schemas.microsoft.com/office/drawing/2014/main" id="{81AD5D14-A6D4-4960-B74F-8C767534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7724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B2E33"/>
                </a:solidFill>
                <a:latin typeface="Cambria"/>
                <a:ea typeface="Cambria"/>
                <a:cs typeface="Cambria"/>
              </a:rPr>
              <a:t>Statement of the Problem</a:t>
            </a:r>
          </a:p>
        </p:txBody>
      </p:sp>
      <p:sp>
        <p:nvSpPr>
          <p:cNvPr id="100" name="Google Shape;100;p6">
            <a:extLst xmlns:a="http://schemas.openxmlformats.org/drawingml/2006/main">
              <a:ext uri="{FF2B5EF4-FFF2-40B4-BE49-F238E27FC236}">
                <a16:creationId xmlns:a16="http://schemas.microsoft.com/office/drawing/2014/main" id="{0E474803-94A6-4269-8642-AD925875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804672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1" name="Google Shape;101;p6">
            <a:extLst xmlns:a="http://schemas.openxmlformats.org/drawingml/2006/main">
              <a:ext uri="{FF2B5EF4-FFF2-40B4-BE49-F238E27FC236}">
                <a16:creationId xmlns:a16="http://schemas.microsoft.com/office/drawing/2014/main" id="{B18E8495-0E16-469D-8945-14F0C697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74980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General Problem</a:t>
            </a:r>
          </a:p>
        </p:txBody>
      </p:sp>
      <p:sp>
        <p:nvSpPr>
          <p:cNvPr id="102" name="Google Shape;102;p6">
            <a:extLst xmlns:a="http://schemas.openxmlformats.org/drawingml/2006/main">
              <a:ext uri="{FF2B5EF4-FFF2-40B4-BE49-F238E27FC236}">
                <a16:creationId xmlns:a16="http://schemas.microsoft.com/office/drawing/2014/main" id="{3598FD40-1135-4DCB-900D-81084BCE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53312"/>
            <a:ext cx="74980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PLP Clinic still relies on manual and fragmented workflows for records, appointments, APE tracking, and emergency response, which can delay retrieval, documentation, and coordination.</a:t>
            </a:r>
          </a:p>
        </p:txBody>
      </p:sp>
      <p:sp>
        <p:nvSpPr>
          <p:cNvPr id="103" name="Google Shape;103;p6">
            <a:extLst xmlns:a="http://schemas.openxmlformats.org/drawingml/2006/main">
              <a:ext uri="{FF2B5EF4-FFF2-40B4-BE49-F238E27FC236}">
                <a16:creationId xmlns:a16="http://schemas.microsoft.com/office/drawing/2014/main" id="{4500FF88-60E4-4365-801C-B33D9719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1168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Specifically, the study seeks to answer:</a:t>
            </a:r>
          </a:p>
        </p:txBody>
      </p:sp>
      <p:sp>
        <p:nvSpPr>
          <p:cNvPr id="104" name="Google Shape;104;p6">
            <a:extLst xmlns:a="http://schemas.openxmlformats.org/drawingml/2006/main">
              <a:ext uri="{FF2B5EF4-FFF2-40B4-BE49-F238E27FC236}">
                <a16:creationId xmlns:a16="http://schemas.microsoft.com/office/drawing/2014/main" id="{8BB86DE3-B6CB-4F00-8C24-21F8FD80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5" name="Google Shape;105;p6">
            <a:extLst xmlns:a="http://schemas.openxmlformats.org/drawingml/2006/main">
              <a:ext uri="{FF2B5EF4-FFF2-40B4-BE49-F238E27FC236}">
                <a16:creationId xmlns:a16="http://schemas.microsoft.com/office/drawing/2014/main" id="{32C4FC1B-3A63-433E-AAC4-6AB6BAC7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06" name="Google Shape;106;p6">
            <a:extLst xmlns:a="http://schemas.openxmlformats.org/drawingml/2006/main">
              <a:ext uri="{FF2B5EF4-FFF2-40B4-BE49-F238E27FC236}">
                <a16:creationId xmlns:a16="http://schemas.microsoft.com/office/drawing/2014/main" id="{C3815FB4-778F-4C51-AD46-479E3D2C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359152"/>
            <a:ext cx="745236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How can CLINiQ improve the management, accessibility, and security of electronic health records?</a:t>
            </a:r>
          </a:p>
        </p:txBody>
      </p:sp>
      <p:sp>
        <p:nvSpPr>
          <p:cNvPr id="107" name="Google Shape;107;p6">
            <a:extLst xmlns:a="http://schemas.openxmlformats.org/drawingml/2006/main">
              <a:ext uri="{FF2B5EF4-FFF2-40B4-BE49-F238E27FC236}">
                <a16:creationId xmlns:a16="http://schemas.microsoft.com/office/drawing/2014/main" id="{BBC8CC1F-0347-45D1-B7CE-35EDC601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950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8" name="Google Shape;108;p6">
            <a:extLst xmlns:a="http://schemas.openxmlformats.org/drawingml/2006/main">
              <a:ext uri="{FF2B5EF4-FFF2-40B4-BE49-F238E27FC236}">
                <a16:creationId xmlns:a16="http://schemas.microsoft.com/office/drawing/2014/main" id="{E03E3CC1-DE84-428B-AFC7-CB19790C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950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09" name="Google Shape;109;p6">
            <a:extLst xmlns:a="http://schemas.openxmlformats.org/drawingml/2006/main">
              <a:ext uri="{FF2B5EF4-FFF2-40B4-BE49-F238E27FC236}">
                <a16:creationId xmlns:a16="http://schemas.microsoft.com/office/drawing/2014/main" id="{6EE65E57-04AA-4415-803B-76039230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871216"/>
            <a:ext cx="745236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How can Appointment Management improve clinic workflow and scheduling efficiency?</a:t>
            </a:r>
          </a:p>
        </p:txBody>
      </p:sp>
      <p:sp>
        <p:nvSpPr>
          <p:cNvPr id="110" name="Google Shape;110;p6">
            <a:extLst xmlns:a="http://schemas.openxmlformats.org/drawingml/2006/main">
              <a:ext uri="{FF2B5EF4-FFF2-40B4-BE49-F238E27FC236}">
                <a16:creationId xmlns:a16="http://schemas.microsoft.com/office/drawing/2014/main" id="{3A1C56B4-AC00-4A57-A7CF-0B3BC04E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0156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1" name="Google Shape;111;p6">
            <a:extLst xmlns:a="http://schemas.openxmlformats.org/drawingml/2006/main">
              <a:ext uri="{FF2B5EF4-FFF2-40B4-BE49-F238E27FC236}">
                <a16:creationId xmlns:a16="http://schemas.microsoft.com/office/drawing/2014/main" id="{3E461F9B-26C7-465C-ACCD-B442521A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0156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12" name="Google Shape;112;p6">
            <a:extLst xmlns:a="http://schemas.openxmlformats.org/drawingml/2006/main">
              <a:ext uri="{FF2B5EF4-FFF2-40B4-BE49-F238E27FC236}">
                <a16:creationId xmlns:a16="http://schemas.microsoft.com/office/drawing/2014/main" id="{D43B34DF-BEBA-4608-9E56-83473802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383280"/>
            <a:ext cx="745236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How can Patient Risk Classification assist personnel in prioritizing patients by urgency?</a:t>
            </a:r>
          </a:p>
        </p:txBody>
      </p:sp>
      <p:sp>
        <p:nvSpPr>
          <p:cNvPr id="113" name="Google Shape;113;p6">
            <a:extLst xmlns:a="http://schemas.openxmlformats.org/drawingml/2006/main">
              <a:ext uri="{FF2B5EF4-FFF2-40B4-BE49-F238E27FC236}">
                <a16:creationId xmlns:a16="http://schemas.microsoft.com/office/drawing/2014/main" id="{DA913488-0ACC-495B-AFA1-BB8860B7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136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4" name="Google Shape;114;p6">
            <a:extLst xmlns:a="http://schemas.openxmlformats.org/drawingml/2006/main">
              <a:ext uri="{FF2B5EF4-FFF2-40B4-BE49-F238E27FC236}">
                <a16:creationId xmlns:a16="http://schemas.microsoft.com/office/drawing/2014/main" id="{7F9FF8AC-5085-474A-BD17-F3DFF809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136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115" name="Google Shape;115;p6">
            <a:extLst xmlns:a="http://schemas.openxmlformats.org/drawingml/2006/main">
              <a:ext uri="{FF2B5EF4-FFF2-40B4-BE49-F238E27FC236}">
                <a16:creationId xmlns:a16="http://schemas.microsoft.com/office/drawing/2014/main" id="{E519B22F-10C6-41D2-8569-AA255AC7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895344"/>
            <a:ext cx="745236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How can QR/NFC Passport and Nurse Alerting improve emergency preparedness?</a:t>
            </a:r>
          </a:p>
        </p:txBody>
      </p:sp>
      <p:sp>
        <p:nvSpPr>
          <p:cNvPr id="116" name="Google Shape;116;p6">
            <a:extLst xmlns:a="http://schemas.openxmlformats.org/drawingml/2006/main">
              <a:ext uri="{FF2B5EF4-FFF2-40B4-BE49-F238E27FC236}">
                <a16:creationId xmlns:a16="http://schemas.microsoft.com/office/drawing/2014/main" id="{1E5634FA-A1E6-4415-8CC0-9F737807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256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7" name="Google Shape;117;p6">
            <a:extLst xmlns:a="http://schemas.openxmlformats.org/drawingml/2006/main">
              <a:ext uri="{FF2B5EF4-FFF2-40B4-BE49-F238E27FC236}">
                <a16:creationId xmlns:a16="http://schemas.microsoft.com/office/drawing/2014/main" id="{1DB61B98-1D51-43EE-B100-C26A65AF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256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118" name="Google Shape;118;p6">
            <a:extLst xmlns:a="http://schemas.openxmlformats.org/drawingml/2006/main">
              <a:ext uri="{FF2B5EF4-FFF2-40B4-BE49-F238E27FC236}">
                <a16:creationId xmlns:a16="http://schemas.microsoft.com/office/drawing/2014/main" id="{02C060FC-40D3-4FEA-8E04-EBD4774E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745236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How does the integrated prototype support system quality based on ISO/IEC 25010 criteria?</a:t>
            </a:r>
          </a:p>
        </p:txBody>
      </p:sp>
      <p:sp>
        <p:nvSpPr>
          <p:cNvPr id="119" name="Google Shape;119;p6">
            <a:extLst xmlns:a="http://schemas.openxmlformats.org/drawingml/2006/main">
              <a:ext uri="{FF2B5EF4-FFF2-40B4-BE49-F238E27FC236}">
                <a16:creationId xmlns:a16="http://schemas.microsoft.com/office/drawing/2014/main" id="{9763385B-DC90-469E-9D09-F22EE19E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43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20" name="Google Shape;120;p6">
            <a:extLst xmlns:a="http://schemas.openxmlformats.org/drawingml/2006/main">
              <a:ext uri="{FF2B5EF4-FFF2-40B4-BE49-F238E27FC236}">
                <a16:creationId xmlns:a16="http://schemas.microsoft.com/office/drawing/2014/main" id="{87D9FCD7-907E-4E8F-9E3F-C03FBE18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431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CLINiQ</a:t>
            </a:r>
          </a:p>
        </p:txBody>
      </p:sp>
    </p:spTree>
    <p:extLst>
      <p:ext uri="{BB962C8B-B14F-4D97-AF65-F5344CB8AC3E}">
        <p14:creationId xmlns:p14="http://schemas.microsoft.com/office/powerpoint/2010/main" val="561999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Google Shape;126;p7">
            <a:extLst xmlns:a="http://schemas.openxmlformats.org/drawingml/2006/main">
              <a:ext uri="{FF2B5EF4-FFF2-40B4-BE49-F238E27FC236}">
                <a16:creationId xmlns:a16="http://schemas.microsoft.com/office/drawing/2014/main" id="{3F72FA2A-CD89-4742-9ABA-468DFF47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7724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B2E33"/>
                </a:solidFill>
                <a:latin typeface="Cambria"/>
                <a:ea typeface="Cambria"/>
                <a:cs typeface="Cambria"/>
              </a:rPr>
              <a:t>Scope and Limitation</a:t>
            </a:r>
          </a:p>
        </p:txBody>
      </p:sp>
      <p:sp>
        <p:nvSpPr>
          <p:cNvPr id="127" name="Google Shape;127;p7">
            <a:extLst xmlns:a="http://schemas.openxmlformats.org/drawingml/2006/main">
              <a:ext uri="{FF2B5EF4-FFF2-40B4-BE49-F238E27FC236}">
                <a16:creationId xmlns:a16="http://schemas.microsoft.com/office/drawing/2014/main" id="{B3C3186D-F36C-474F-AE45-B3FAFD59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144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What the system can and cannot do</a:t>
            </a:r>
          </a:p>
        </p:txBody>
      </p:sp>
      <p:sp>
        <p:nvSpPr>
          <p:cNvPr id="128" name="Google Shape;128;p7">
            <a:extLst xmlns:a="http://schemas.openxmlformats.org/drawingml/2006/main">
              <a:ext uri="{FF2B5EF4-FFF2-40B4-BE49-F238E27FC236}">
                <a16:creationId xmlns:a16="http://schemas.microsoft.com/office/drawing/2014/main" id="{1E941752-E738-4901-9195-33295470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17320"/>
            <a:ext cx="4114800" cy="3337560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9" name="Google Shape;129;p7">
            <a:extLst xmlns:a="http://schemas.openxmlformats.org/drawingml/2006/main">
              <a:ext uri="{FF2B5EF4-FFF2-40B4-BE49-F238E27FC236}">
                <a16:creationId xmlns:a16="http://schemas.microsoft.com/office/drawing/2014/main" id="{1EADA0CF-9096-4217-BDFA-80772D5E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27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75" name="Google Shape;130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5760b73d67466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36676" y="1687068"/>
            <a:ext cx="338328" cy="3383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1" name="Google Shape;131;p7">
            <a:extLst xmlns:a="http://schemas.openxmlformats.org/drawingml/2006/main">
              <a:ext uri="{FF2B5EF4-FFF2-40B4-BE49-F238E27FC236}">
                <a16:creationId xmlns:a16="http://schemas.microsoft.com/office/drawing/2014/main" id="{30BE7DC7-3307-41C2-B440-A1A3EBD0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69164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SCOPE</a:t>
            </a:r>
          </a:p>
        </p:txBody>
      </p:sp>
      <p:pic>
        <p:nvPicPr>
          <p:cNvPr id="177" name="Google Shape;132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5760b73d67466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7240" y="2194560"/>
            <a:ext cx="182880" cy="1828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3" name="Google Shape;133;p7">
            <a:extLst xmlns:a="http://schemas.openxmlformats.org/drawingml/2006/main">
              <a:ext uri="{FF2B5EF4-FFF2-40B4-BE49-F238E27FC236}">
                <a16:creationId xmlns:a16="http://schemas.microsoft.com/office/drawing/2014/main" id="{8E0B1205-F057-4C90-97B8-09A5BD6F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39696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Electronic Health Records</a:t>
            </a:r>
          </a:p>
        </p:txBody>
      </p:sp>
      <p:pic>
        <p:nvPicPr>
          <p:cNvPr id="179" name="Google Shape;134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5760b73d67466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7240" y="2578608"/>
            <a:ext cx="182880" cy="1828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5" name="Google Shape;135;p7">
            <a:extLst xmlns:a="http://schemas.openxmlformats.org/drawingml/2006/main">
              <a:ext uri="{FF2B5EF4-FFF2-40B4-BE49-F238E27FC236}">
                <a16:creationId xmlns:a16="http://schemas.microsoft.com/office/drawing/2014/main" id="{0640C96C-7FE6-4DA8-A6BC-CC6E9234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523744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APE Workflow Tracking</a:t>
            </a:r>
          </a:p>
        </p:txBody>
      </p:sp>
      <p:pic>
        <p:nvPicPr>
          <p:cNvPr id="181" name="Google Shape;136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5760b73d67466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7240" y="2962656"/>
            <a:ext cx="182880" cy="1828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7" name="Google Shape;137;p7">
            <a:extLst xmlns:a="http://schemas.openxmlformats.org/drawingml/2006/main">
              <a:ext uri="{FF2B5EF4-FFF2-40B4-BE49-F238E27FC236}">
                <a16:creationId xmlns:a16="http://schemas.microsoft.com/office/drawing/2014/main" id="{A45A800A-1695-4136-8ADD-04FFA750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07792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Appointment Management</a:t>
            </a:r>
          </a:p>
        </p:txBody>
      </p:sp>
      <p:pic>
        <p:nvPicPr>
          <p:cNvPr id="183" name="Google Shape;138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5760b73d67466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7240" y="3346704"/>
            <a:ext cx="182880" cy="1828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9" name="Google Shape;139;p7">
            <a:extLst xmlns:a="http://schemas.openxmlformats.org/drawingml/2006/main">
              <a:ext uri="{FF2B5EF4-FFF2-40B4-BE49-F238E27FC236}">
                <a16:creationId xmlns:a16="http://schemas.microsoft.com/office/drawing/2014/main" id="{1E6B2242-E56B-428A-A54C-5CE43F4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291840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Patient Risk Classification</a:t>
            </a:r>
          </a:p>
        </p:txBody>
      </p:sp>
      <p:pic>
        <p:nvPicPr>
          <p:cNvPr id="185" name="Google Shape;140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5760b73d67466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7240" y="3730752"/>
            <a:ext cx="182880" cy="1828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7">
            <a:extLst xmlns:a="http://schemas.openxmlformats.org/drawingml/2006/main">
              <a:ext uri="{FF2B5EF4-FFF2-40B4-BE49-F238E27FC236}">
                <a16:creationId xmlns:a16="http://schemas.microsoft.com/office/drawing/2014/main" id="{2DE4338A-89F2-4190-8485-E899DBA1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675888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QR/NFC Emergency Health Passport</a:t>
            </a:r>
          </a:p>
        </p:txBody>
      </p:sp>
      <p:pic>
        <p:nvPicPr>
          <p:cNvPr id="187" name="Google Shape;142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5760b73d67466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7240" y="4114800"/>
            <a:ext cx="182880" cy="1828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3" name="Google Shape;143;p7">
            <a:extLst xmlns:a="http://schemas.openxmlformats.org/drawingml/2006/main">
              <a:ext uri="{FF2B5EF4-FFF2-40B4-BE49-F238E27FC236}">
                <a16:creationId xmlns:a16="http://schemas.microsoft.com/office/drawing/2014/main" id="{8FD51B69-8257-4FCD-AD1A-EEA3164B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59936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Near Real-Time Nurse Alerting</a:t>
            </a:r>
          </a:p>
        </p:txBody>
      </p:sp>
      <p:pic>
        <p:nvPicPr>
          <p:cNvPr id="189" name="Google Shape;144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5760b73d67466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7240" y="4498848"/>
            <a:ext cx="182880" cy="1828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5" name="Google Shape;145;p7">
            <a:extLst xmlns:a="http://schemas.openxmlformats.org/drawingml/2006/main">
              <a:ext uri="{FF2B5EF4-FFF2-40B4-BE49-F238E27FC236}">
                <a16:creationId xmlns:a16="http://schemas.microsoft.com/office/drawing/2014/main" id="{5E33C775-D0B7-4A40-9A83-FF3A4E7C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43984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Inventory &amp; Referral Management</a:t>
            </a:r>
          </a:p>
        </p:txBody>
      </p:sp>
      <p:sp>
        <p:nvSpPr>
          <p:cNvPr id="146" name="Google Shape;146;p7">
            <a:extLst xmlns:a="http://schemas.openxmlformats.org/drawingml/2006/main">
              <a:ext uri="{FF2B5EF4-FFF2-40B4-BE49-F238E27FC236}">
                <a16:creationId xmlns:a16="http://schemas.microsoft.com/office/drawing/2014/main" id="{7EAEE9AF-6CEC-4915-8393-FE5CB464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417320"/>
            <a:ext cx="3886200" cy="3337560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05445E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7" name="Google Shape;147;p7">
            <a:extLst xmlns:a="http://schemas.openxmlformats.org/drawingml/2006/main">
              <a:ext uri="{FF2B5EF4-FFF2-40B4-BE49-F238E27FC236}">
                <a16:creationId xmlns:a16="http://schemas.microsoft.com/office/drawing/2014/main" id="{E9503F07-BC28-4A60-84FF-1BA17B87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27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93" name="Google Shape;148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f0633056b51422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088636" y="1687068"/>
            <a:ext cx="338328" cy="3383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9" name="Google Shape;149;p7">
            <a:extLst xmlns:a="http://schemas.openxmlformats.org/drawingml/2006/main">
              <a:ext uri="{FF2B5EF4-FFF2-40B4-BE49-F238E27FC236}">
                <a16:creationId xmlns:a16="http://schemas.microsoft.com/office/drawing/2014/main" id="{46B22DE0-234F-4A14-9C0D-A3C174A4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69164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LIMITATIONS</a:t>
            </a:r>
          </a:p>
        </p:txBody>
      </p:sp>
      <p:sp>
        <p:nvSpPr>
          <p:cNvPr id="150" name="Google Shape;150;p7">
            <a:extLst xmlns:a="http://schemas.openxmlformats.org/drawingml/2006/main">
              <a:ext uri="{FF2B5EF4-FFF2-40B4-BE49-F238E27FC236}">
                <a16:creationId xmlns:a16="http://schemas.microsoft.com/office/drawing/2014/main" id="{758218CD-0397-40F0-A3B5-13FCBBA4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028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1" name="Google Shape;151;p7">
            <a:extLst xmlns:a="http://schemas.openxmlformats.org/drawingml/2006/main">
              <a:ext uri="{FF2B5EF4-FFF2-40B4-BE49-F238E27FC236}">
                <a16:creationId xmlns:a16="http://schemas.microsoft.com/office/drawing/2014/main" id="{9D5A899C-B212-4035-9117-C5768107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2139696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Local single-school prototype</a:t>
            </a:r>
          </a:p>
        </p:txBody>
      </p:sp>
      <p:sp>
        <p:nvSpPr>
          <p:cNvPr id="152" name="Google Shape;152;p7">
            <a:extLst xmlns:a="http://schemas.openxmlformats.org/drawingml/2006/main">
              <a:ext uri="{FF2B5EF4-FFF2-40B4-BE49-F238E27FC236}">
                <a16:creationId xmlns:a16="http://schemas.microsoft.com/office/drawing/2014/main" id="{15436F4E-312C-4F31-89BE-D6427BD6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9748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3" name="Google Shape;153;p7">
            <a:extLst xmlns:a="http://schemas.openxmlformats.org/drawingml/2006/main">
              <a:ext uri="{FF2B5EF4-FFF2-40B4-BE49-F238E27FC236}">
                <a16:creationId xmlns:a16="http://schemas.microsoft.com/office/drawing/2014/main" id="{2B2C255E-422A-4A91-956D-7B489B3E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2596896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telemedicine services</a:t>
            </a:r>
          </a:p>
        </p:txBody>
      </p:sp>
      <p:sp>
        <p:nvSpPr>
          <p:cNvPr id="154" name="Google Shape;154;p7">
            <a:extLst xmlns:a="http://schemas.openxmlformats.org/drawingml/2006/main">
              <a:ext uri="{FF2B5EF4-FFF2-40B4-BE49-F238E27FC236}">
                <a16:creationId xmlns:a16="http://schemas.microsoft.com/office/drawing/2014/main" id="{1D12A2B6-A931-4E28-BBE4-BBD5D277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5468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5" name="Google Shape;155;p7">
            <a:extLst xmlns:a="http://schemas.openxmlformats.org/drawingml/2006/main">
              <a:ext uri="{FF2B5EF4-FFF2-40B4-BE49-F238E27FC236}">
                <a16:creationId xmlns:a16="http://schemas.microsoft.com/office/drawing/2014/main" id="{0781B4CB-12B7-4AA1-A1F9-D2135C2F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054096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direct hospital system integration</a:t>
            </a:r>
          </a:p>
        </p:txBody>
      </p:sp>
      <p:sp>
        <p:nvSpPr>
          <p:cNvPr id="156" name="Google Shape;156;p7">
            <a:extLst xmlns:a="http://schemas.openxmlformats.org/drawingml/2006/main">
              <a:ext uri="{FF2B5EF4-FFF2-40B4-BE49-F238E27FC236}">
                <a16:creationId xmlns:a16="http://schemas.microsoft.com/office/drawing/2014/main" id="{7946A6E1-7ADD-499C-B5D4-2C0968C5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1188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7" name="Google Shape;157;p7">
            <a:extLst xmlns:a="http://schemas.openxmlformats.org/drawingml/2006/main">
              <a:ext uri="{FF2B5EF4-FFF2-40B4-BE49-F238E27FC236}">
                <a16:creationId xmlns:a16="http://schemas.microsoft.com/office/drawing/2014/main" id="{96D923D8-8DDB-45E2-A538-EACCAF7F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511296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automatic SMS/parent/hospital alerts</a:t>
            </a:r>
          </a:p>
        </p:txBody>
      </p:sp>
      <p:sp>
        <p:nvSpPr>
          <p:cNvPr id="158" name="Google Shape;158;p7">
            <a:extLst xmlns:a="http://schemas.openxmlformats.org/drawingml/2006/main">
              <a:ext uri="{FF2B5EF4-FFF2-40B4-BE49-F238E27FC236}">
                <a16:creationId xmlns:a16="http://schemas.microsoft.com/office/drawing/2014/main" id="{F851E4B3-1735-4B90-AC1D-BC85AAFF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6908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9" name="Google Shape;159;p7">
            <a:extLst xmlns:a="http://schemas.openxmlformats.org/drawingml/2006/main">
              <a:ext uri="{FF2B5EF4-FFF2-40B4-BE49-F238E27FC236}">
                <a16:creationId xmlns:a16="http://schemas.microsoft.com/office/drawing/2014/main" id="{7AF7F0E2-9B24-47A9-BB41-AA729A60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968496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Risk Classification does not diagnose</a:t>
            </a:r>
          </a:p>
        </p:txBody>
      </p:sp>
      <p:sp>
        <p:nvSpPr>
          <p:cNvPr id="160" name="Google Shape;160;p7">
            <a:extLst xmlns:a="http://schemas.openxmlformats.org/drawingml/2006/main">
              <a:ext uri="{FF2B5EF4-FFF2-40B4-BE49-F238E27FC236}">
                <a16:creationId xmlns:a16="http://schemas.microsoft.com/office/drawing/2014/main" id="{846E8DEC-6FE7-4C01-B48E-0B3BC009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43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61" name="Google Shape;161;p7">
            <a:extLst xmlns:a="http://schemas.openxmlformats.org/drawingml/2006/main">
              <a:ext uri="{FF2B5EF4-FFF2-40B4-BE49-F238E27FC236}">
                <a16:creationId xmlns:a16="http://schemas.microsoft.com/office/drawing/2014/main" id="{D5BDAE00-1A7D-47E5-82A2-22CC855A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431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CLINiQ</a:t>
            </a:r>
          </a:p>
        </p:txBody>
      </p:sp>
    </p:spTree>
    <p:extLst>
      <p:ext uri="{BB962C8B-B14F-4D97-AF65-F5344CB8AC3E}">
        <p14:creationId xmlns:p14="http://schemas.microsoft.com/office/powerpoint/2010/main" val="15034654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7" name="Google Shape;167;p8">
            <a:extLst xmlns:a="http://schemas.openxmlformats.org/drawingml/2006/main">
              <a:ext uri="{FF2B5EF4-FFF2-40B4-BE49-F238E27FC236}">
                <a16:creationId xmlns:a16="http://schemas.microsoft.com/office/drawing/2014/main" id="{E7F98C33-DACE-4F5A-9DAA-F2B5ACBD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775" y="1098750"/>
            <a:ext cx="8550900" cy="371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55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8" name="Google Shape;168;p8">
            <a:extLst xmlns:a="http://schemas.openxmlformats.org/drawingml/2006/main">
              <a:ext uri="{FF2B5EF4-FFF2-40B4-BE49-F238E27FC236}">
                <a16:creationId xmlns:a16="http://schemas.microsoft.com/office/drawing/2014/main" id="{787C463A-80C6-4613-BB4A-0EA46AE5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7772400" cy="50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B2E33"/>
                </a:solidFill>
                <a:latin typeface="Cambria"/>
                <a:ea typeface="Cambria"/>
                <a:cs typeface="Cambria"/>
              </a:rPr>
              <a:t>Concept of the Study</a:t>
            </a:r>
          </a:p>
        </p:txBody>
      </p:sp>
      <p:sp>
        <p:nvSpPr>
          <p:cNvPr id="169" name="Google Shape;169;p8">
            <a:extLst xmlns:a="http://schemas.openxmlformats.org/drawingml/2006/main">
              <a:ext uri="{FF2B5EF4-FFF2-40B4-BE49-F238E27FC236}">
                <a16:creationId xmlns:a16="http://schemas.microsoft.com/office/drawing/2014/main" id="{FDC6BF49-8776-498A-A553-F2977751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7315200" cy="32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1" name="Google Shape;171;p8">
            <a:extLst xmlns:a="http://schemas.openxmlformats.org/drawingml/2006/main">
              <a:ext uri="{FF2B5EF4-FFF2-40B4-BE49-F238E27FC236}">
                <a16:creationId xmlns:a16="http://schemas.microsoft.com/office/drawing/2014/main" id="{030F61C6-8D52-4239-844A-1A5B4296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646" y="1689344"/>
            <a:ext cx="2098914" cy="755759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16603" dist="43726" dir="5400000" algn="bl" rotWithShape="0">
              <a:srgbClr val="000000">
                <a:alpha val="12160"/>
              </a:srgbClr>
            </a:outerShdw>
          </a:effectLst>
        </p:spPr>
        <p:txBody>
          <a:bodyPr xmlns:a="http://schemas.openxmlformats.org/drawingml/2006/main" spcFirstLastPara="1" wrap="square" lIns="104925" tIns="52450" rIns="104925" bIns="524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2" name="Google Shape;172;p8">
            <a:extLst xmlns:a="http://schemas.openxmlformats.org/drawingml/2006/main">
              <a:ext uri="{FF2B5EF4-FFF2-40B4-BE49-F238E27FC236}">
                <a16:creationId xmlns:a16="http://schemas.microsoft.com/office/drawing/2014/main" id="{0E8B039B-DDC2-49DD-868F-5B1E5986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591" y="1804784"/>
            <a:ext cx="524728" cy="524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4925" tIns="52450" rIns="104925" bIns="524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33" name="Google Shape;173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ae17b744088492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734806" y="1872999"/>
            <a:ext cx="388299" cy="3882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4" name="Google Shape;174;p8">
            <a:extLst xmlns:a="http://schemas.openxmlformats.org/drawingml/2006/main">
              <a:ext uri="{FF2B5EF4-FFF2-40B4-BE49-F238E27FC236}">
                <a16:creationId xmlns:a16="http://schemas.microsoft.com/office/drawing/2014/main" id="{85B2CFB4-E341-4DF1-B206-FF8107B5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5276" y="1689344"/>
            <a:ext cx="1311821" cy="755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62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Students / Clinic Staff</a:t>
            </a:r>
          </a:p>
        </p:txBody>
      </p:sp>
      <p:sp>
        <p:nvSpPr>
          <p:cNvPr id="176" name="Google Shape;176;p8">
            <a:extLst xmlns:a="http://schemas.openxmlformats.org/drawingml/2006/main">
              <a:ext uri="{FF2B5EF4-FFF2-40B4-BE49-F238E27FC236}">
                <a16:creationId xmlns:a16="http://schemas.microsoft.com/office/drawing/2014/main" id="{835112D4-37DF-475B-8CF4-669D882D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3780" y="1911866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36" name="Google Shape;177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1f63d2219448e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3014196" y="1952282"/>
            <a:ext cx="230063" cy="2300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9" name="Google Shape;179;p8">
            <a:extLst xmlns:a="http://schemas.openxmlformats.org/drawingml/2006/main">
              <a:ext uri="{FF2B5EF4-FFF2-40B4-BE49-F238E27FC236}">
                <a16:creationId xmlns:a16="http://schemas.microsoft.com/office/drawing/2014/main" id="{38642B95-45BE-4D46-86D3-8B096AA7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9892" y="1911857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38" name="Google Shape;180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1f63d2219448e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6050308" y="1952273"/>
            <a:ext cx="230063" cy="2300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2" name="Google Shape;182;p8">
            <a:extLst xmlns:a="http://schemas.openxmlformats.org/drawingml/2006/main">
              <a:ext uri="{FF2B5EF4-FFF2-40B4-BE49-F238E27FC236}">
                <a16:creationId xmlns:a16="http://schemas.microsoft.com/office/drawing/2014/main" id="{8A4719BF-F0AE-47FF-9C59-DF27BF7F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3848" y="1689344"/>
            <a:ext cx="2098914" cy="755759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16607" dist="43728" dir="5400000" algn="bl" rotWithShape="0">
              <a:srgbClr val="000000">
                <a:alpha val="12160"/>
              </a:srgbClr>
            </a:outerShdw>
          </a:effectLst>
        </p:spPr>
        <p:txBody>
          <a:bodyPr xmlns:a="http://schemas.openxmlformats.org/drawingml/2006/main" spcFirstLastPara="1" wrap="square" lIns="104925" tIns="52450" rIns="104925" bIns="524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3" name="Google Shape;183;p8">
            <a:extLst xmlns:a="http://schemas.openxmlformats.org/drawingml/2006/main">
              <a:ext uri="{FF2B5EF4-FFF2-40B4-BE49-F238E27FC236}">
                <a16:creationId xmlns:a16="http://schemas.microsoft.com/office/drawing/2014/main" id="{41B528F9-912A-4363-871C-3995580E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8793" y="1804784"/>
            <a:ext cx="524728" cy="524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4925" tIns="52450" rIns="104925" bIns="524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41" name="Google Shape;184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f19714298364ca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6807008" y="1872999"/>
            <a:ext cx="388299" cy="3882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5" name="Google Shape;185;p8">
            <a:extLst xmlns:a="http://schemas.openxmlformats.org/drawingml/2006/main">
              <a:ext uri="{FF2B5EF4-FFF2-40B4-BE49-F238E27FC236}">
                <a16:creationId xmlns:a16="http://schemas.microsoft.com/office/drawing/2014/main" id="{779EBC6A-5D0D-48F2-992B-A0F02C09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7478" y="1689344"/>
            <a:ext cx="1311821" cy="755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62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CLINiQ PHP/MySQL Core</a:t>
            </a:r>
          </a:p>
        </p:txBody>
      </p:sp>
      <p:sp>
        <p:nvSpPr>
          <p:cNvPr id="187" name="Google Shape;187;p8">
            <a:extLst xmlns:a="http://schemas.openxmlformats.org/drawingml/2006/main">
              <a:ext uri="{FF2B5EF4-FFF2-40B4-BE49-F238E27FC236}">
                <a16:creationId xmlns:a16="http://schemas.microsoft.com/office/drawing/2014/main" id="{3B5EBE2F-84C0-4183-A3C1-21E52DB9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842" y="2873560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44" name="Google Shape;188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1f63d2219448e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7433258" y="2913976"/>
            <a:ext cx="230063" cy="2300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0" name="Google Shape;190;p8">
            <a:extLst xmlns:a="http://schemas.openxmlformats.org/drawingml/2006/main">
              <a:ext uri="{FF2B5EF4-FFF2-40B4-BE49-F238E27FC236}">
                <a16:creationId xmlns:a16="http://schemas.microsoft.com/office/drawing/2014/main" id="{243E608D-0E6F-487F-9C0C-7F34B077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3855" y="3513394"/>
            <a:ext cx="2098914" cy="755759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16606" dist="43727" dir="5400000" algn="bl" rotWithShape="0">
              <a:srgbClr val="000000">
                <a:alpha val="12160"/>
              </a:srgbClr>
            </a:outerShdw>
          </a:effectLst>
        </p:spPr>
        <p:txBody>
          <a:bodyPr xmlns:a="http://schemas.openxmlformats.org/drawingml/2006/main" spcFirstLastPara="1" wrap="square" lIns="104925" tIns="52450" rIns="104925" bIns="524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1" name="Google Shape;191;p8">
            <a:extLst xmlns:a="http://schemas.openxmlformats.org/drawingml/2006/main">
              <a:ext uri="{FF2B5EF4-FFF2-40B4-BE49-F238E27FC236}">
                <a16:creationId xmlns:a16="http://schemas.microsoft.com/office/drawing/2014/main" id="{53B43370-237F-454C-B67D-FF966988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8800" y="3628834"/>
            <a:ext cx="524728" cy="524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4925" tIns="52450" rIns="104925" bIns="524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2" name="Google Shape;192;p8">
            <a:extLst xmlns:a="http://schemas.openxmlformats.org/drawingml/2006/main">
              <a:ext uri="{FF2B5EF4-FFF2-40B4-BE49-F238E27FC236}">
                <a16:creationId xmlns:a16="http://schemas.microsoft.com/office/drawing/2014/main" id="{52213BE2-29DA-4DFB-8EF5-B6EA2E87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7485" y="3513394"/>
            <a:ext cx="1311821" cy="755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62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EHR, visits, alerts, APE, inventory, reports</a:t>
            </a:r>
          </a:p>
        </p:txBody>
      </p:sp>
      <p:pic>
        <p:nvPicPr>
          <p:cNvPr id="248" name="Google Shape;193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4b3116900e147f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35767" y="3722118"/>
            <a:ext cx="338328" cy="3383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6" name="Google Shape;196;p8">
            <a:extLst xmlns:a="http://schemas.openxmlformats.org/drawingml/2006/main">
              <a:ext uri="{FF2B5EF4-FFF2-40B4-BE49-F238E27FC236}">
                <a16:creationId xmlns:a16="http://schemas.microsoft.com/office/drawing/2014/main" id="{54A28C86-5498-4AF5-A87F-3D656D7A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670" y="3513385"/>
            <a:ext cx="2098914" cy="755759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16606" dist="43727" dir="5400000" algn="bl" rotWithShape="0">
              <a:srgbClr val="000000">
                <a:alpha val="12160"/>
              </a:srgbClr>
            </a:outerShdw>
          </a:effectLst>
        </p:spPr>
        <p:txBody>
          <a:bodyPr xmlns:a="http://schemas.openxmlformats.org/drawingml/2006/main" spcFirstLastPara="1" wrap="square" lIns="104925" tIns="52450" rIns="104925" bIns="524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7" name="Google Shape;197;p8">
            <a:extLst xmlns:a="http://schemas.openxmlformats.org/drawingml/2006/main">
              <a:ext uri="{FF2B5EF4-FFF2-40B4-BE49-F238E27FC236}">
                <a16:creationId xmlns:a16="http://schemas.microsoft.com/office/drawing/2014/main" id="{0C2980B8-41ED-4E47-BDDA-E654DEE2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615" y="3628825"/>
            <a:ext cx="524728" cy="524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4925" tIns="52450" rIns="104925" bIns="524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8" name="Google Shape;198;p8">
            <a:extLst xmlns:a="http://schemas.openxmlformats.org/drawingml/2006/main">
              <a:ext uri="{FF2B5EF4-FFF2-40B4-BE49-F238E27FC236}">
                <a16:creationId xmlns:a16="http://schemas.microsoft.com/office/drawing/2014/main" id="{56A9E22F-EA68-48EF-ABD5-FC85CE70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5300" y="3513385"/>
            <a:ext cx="1311821" cy="755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62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Improved Campus Clinic Workflow</a:t>
            </a:r>
          </a:p>
        </p:txBody>
      </p:sp>
      <p:pic>
        <p:nvPicPr>
          <p:cNvPr id="252" name="Google Shape;199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052c2b4df834e0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767857" y="3697129"/>
            <a:ext cx="388299" cy="3882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0" name="Google Shape;200;p8">
            <a:extLst xmlns:a="http://schemas.openxmlformats.org/drawingml/2006/main">
              <a:ext uri="{FF2B5EF4-FFF2-40B4-BE49-F238E27FC236}">
                <a16:creationId xmlns:a16="http://schemas.microsoft.com/office/drawing/2014/main" id="{DB05F27B-184C-446C-A92C-A12E657C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4316"/>
            <a:ext cx="4572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u="sng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03" name="Google Shape;203;p8">
            <a:extLst xmlns:a="http://schemas.openxmlformats.org/drawingml/2006/main">
              <a:ext uri="{FF2B5EF4-FFF2-40B4-BE49-F238E27FC236}">
                <a16:creationId xmlns:a16="http://schemas.microsoft.com/office/drawing/2014/main" id="{27D363DB-2ACF-4CFA-B889-DAAA2DEB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7809" y="1689385"/>
            <a:ext cx="2098914" cy="755759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16605" dist="43727" dir="5400000" algn="bl" rotWithShape="0">
              <a:srgbClr val="000000">
                <a:alpha val="12160"/>
              </a:srgbClr>
            </a:outerShdw>
          </a:effectLst>
        </p:spPr>
        <p:txBody>
          <a:bodyPr xmlns:a="http://schemas.openxmlformats.org/drawingml/2006/main" spcFirstLastPara="1" wrap="square" lIns="104925" tIns="52450" rIns="104925" bIns="524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4" name="Google Shape;204;p8">
            <a:extLst xmlns:a="http://schemas.openxmlformats.org/drawingml/2006/main">
              <a:ext uri="{FF2B5EF4-FFF2-40B4-BE49-F238E27FC236}">
                <a16:creationId xmlns:a16="http://schemas.microsoft.com/office/drawing/2014/main" id="{9A5B9A62-BB4C-4ACC-A7D2-B7DE3DE2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2754" y="1804825"/>
            <a:ext cx="524728" cy="524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4925" tIns="52450" rIns="104925" bIns="524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5" name="Google Shape;205;p8">
            <a:extLst xmlns:a="http://schemas.openxmlformats.org/drawingml/2006/main">
              <a:ext uri="{FF2B5EF4-FFF2-40B4-BE49-F238E27FC236}">
                <a16:creationId xmlns:a16="http://schemas.microsoft.com/office/drawing/2014/main" id="{6901D77B-1357-4749-935E-11766A70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1439" y="1689385"/>
            <a:ext cx="1311821" cy="755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62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Profiles, symptoms, vitals, appointments, APE data</a:t>
            </a:r>
          </a:p>
        </p:txBody>
      </p:sp>
      <p:pic>
        <p:nvPicPr>
          <p:cNvPr id="257" name="Google Shape;206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4b3116900e147f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3772491" y="1873122"/>
            <a:ext cx="388299" cy="3882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8" name="Google Shape;208;p8">
            <a:extLst xmlns:a="http://schemas.openxmlformats.org/drawingml/2006/main">
              <a:ext uri="{FF2B5EF4-FFF2-40B4-BE49-F238E27FC236}">
                <a16:creationId xmlns:a16="http://schemas.microsoft.com/office/drawing/2014/main" id="{2705A171-F18D-4E09-9DAB-ACD0D724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7756" y="3513408"/>
            <a:ext cx="2098914" cy="75576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16605" dist="43727" dir="5400000" algn="bl" rotWithShape="0">
              <a:srgbClr val="000000">
                <a:alpha val="12160"/>
              </a:srgbClr>
            </a:outerShdw>
          </a:effectLst>
        </p:spPr>
        <p:txBody>
          <a:bodyPr xmlns:a="http://schemas.openxmlformats.org/drawingml/2006/main" spcFirstLastPara="1" wrap="square" lIns="104925" tIns="52450" rIns="104925" bIns="524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9" name="Google Shape;209;p8">
            <a:extLst xmlns:a="http://schemas.openxmlformats.org/drawingml/2006/main">
              <a:ext uri="{FF2B5EF4-FFF2-40B4-BE49-F238E27FC236}">
                <a16:creationId xmlns:a16="http://schemas.microsoft.com/office/drawing/2014/main" id="{E10825C8-4A01-48E6-9518-0B4C78E2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2701" y="3628849"/>
            <a:ext cx="524728" cy="524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4925" tIns="52450" rIns="104925" bIns="524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60" name="Google Shape;210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ae17b744088492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3770916" y="3697063"/>
            <a:ext cx="388299" cy="3882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1" name="Google Shape;211;p8">
            <a:extLst xmlns:a="http://schemas.openxmlformats.org/drawingml/2006/main">
              <a:ext uri="{FF2B5EF4-FFF2-40B4-BE49-F238E27FC236}">
                <a16:creationId xmlns:a16="http://schemas.microsoft.com/office/drawing/2014/main" id="{D1D74E39-C2B2-453F-916E-D3D3F4E2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1377" y="3513397"/>
            <a:ext cx="1385159" cy="75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62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Risk levels, schedules, alerts, reports</a:t>
            </a:r>
          </a:p>
        </p:txBody>
      </p:sp>
      <p:sp>
        <p:nvSpPr>
          <p:cNvPr id="213" name="Google Shape;213;p8">
            <a:extLst xmlns:a="http://schemas.openxmlformats.org/drawingml/2006/main">
              <a:ext uri="{FF2B5EF4-FFF2-40B4-BE49-F238E27FC236}">
                <a16:creationId xmlns:a16="http://schemas.microsoft.com/office/drawing/2014/main" id="{5E3C173E-BEF4-4B37-B56B-1054FDC4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9855" y="3735885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63" name="Google Shape;214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1f63d2219448e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6050271" y="3776301"/>
            <a:ext cx="230063" cy="2300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" name="Google Shape;216;p8">
            <a:extLst xmlns:a="http://schemas.openxmlformats.org/drawingml/2006/main">
              <a:ext uri="{FF2B5EF4-FFF2-40B4-BE49-F238E27FC236}">
                <a16:creationId xmlns:a16="http://schemas.microsoft.com/office/drawing/2014/main" id="{56EA054D-B4A0-4548-B50C-97D81217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3755" y="3735885"/>
            <a:ext cx="310800" cy="31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65" name="Google Shape;217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1f63d2219448e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3014171" y="3776301"/>
            <a:ext cx="230063" cy="2300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9215913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3" name="Google Shape;223;p9">
            <a:extLst xmlns:a="http://schemas.openxmlformats.org/drawingml/2006/main">
              <a:ext uri="{FF2B5EF4-FFF2-40B4-BE49-F238E27FC236}">
                <a16:creationId xmlns:a16="http://schemas.microsoft.com/office/drawing/2014/main" id="{2D18BEA4-A438-4B57-81BB-86A234A3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77724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B2E33"/>
                </a:solidFill>
                <a:latin typeface="Cambria"/>
                <a:ea typeface="Cambria"/>
                <a:cs typeface="Cambria"/>
              </a:rPr>
              <a:t>Implemented Core Features</a:t>
            </a:r>
          </a:p>
        </p:txBody>
      </p:sp>
      <p:sp>
        <p:nvSpPr>
          <p:cNvPr id="224" name="Google Shape;224;p9">
            <a:extLst xmlns:a="http://schemas.openxmlformats.org/drawingml/2006/main">
              <a:ext uri="{FF2B5EF4-FFF2-40B4-BE49-F238E27FC236}">
                <a16:creationId xmlns:a16="http://schemas.microsoft.com/office/drawing/2014/main" id="{F172A7C2-E25A-4C44-B5CB-4FBB4794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What the current prototype already supports</a:t>
            </a:r>
          </a:p>
        </p:txBody>
      </p:sp>
      <p:sp>
        <p:nvSpPr>
          <p:cNvPr id="225" name="Google Shape;225;p9">
            <a:extLst xmlns:a="http://schemas.openxmlformats.org/drawingml/2006/main">
              <a:ext uri="{FF2B5EF4-FFF2-40B4-BE49-F238E27FC236}">
                <a16:creationId xmlns:a16="http://schemas.microsoft.com/office/drawing/2014/main" id="{1732945F-20F3-4A30-947A-64CEB29F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2624328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6" name="Google Shape;226;p9">
            <a:extLst xmlns:a="http://schemas.openxmlformats.org/drawingml/2006/main">
              <a:ext uri="{FF2B5EF4-FFF2-40B4-BE49-F238E27FC236}">
                <a16:creationId xmlns:a16="http://schemas.microsoft.com/office/drawing/2014/main" id="{85855562-35E5-40C6-863F-4179F2A5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9047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73" name="Google Shape;227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f5eda870c934c1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2668" y="1549908"/>
            <a:ext cx="338328" cy="3383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8" name="Google Shape;228;p9">
            <a:extLst xmlns:a="http://schemas.openxmlformats.org/drawingml/2006/main">
              <a:ext uri="{FF2B5EF4-FFF2-40B4-BE49-F238E27FC236}">
                <a16:creationId xmlns:a16="http://schemas.microsoft.com/office/drawing/2014/main" id="{C29DC6B8-3791-43DC-AA5B-79A1B26B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39112"/>
            <a:ext cx="2295144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Electronic Health Records</a:t>
            </a:r>
          </a:p>
        </p:txBody>
      </p:sp>
      <p:sp>
        <p:nvSpPr>
          <p:cNvPr id="229" name="Google Shape;229;p9">
            <a:extLst xmlns:a="http://schemas.openxmlformats.org/drawingml/2006/main">
              <a:ext uri="{FF2B5EF4-FFF2-40B4-BE49-F238E27FC236}">
                <a16:creationId xmlns:a16="http://schemas.microsoft.com/office/drawing/2014/main" id="{9C3A39CD-5BFB-44A6-AE93-88372534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68296"/>
            <a:ext cx="229514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Purpose: Centralizes patient profiles, visits, APE, and referrals</a:t>
            </a:r>
          </a:p>
        </p:txBody>
      </p:sp>
      <p:sp>
        <p:nvSpPr>
          <p:cNvPr id="230" name="Google Shape;230;p9">
            <a:extLst xmlns:a="http://schemas.openxmlformats.org/drawingml/2006/main">
              <a:ext uri="{FF2B5EF4-FFF2-40B4-BE49-F238E27FC236}">
                <a16:creationId xmlns:a16="http://schemas.microsoft.com/office/drawing/2014/main" id="{98177BCF-61D5-476B-A019-A8BB837C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06040"/>
            <a:ext cx="229514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Benefit: Faster record retrieval</a:t>
            </a:r>
          </a:p>
        </p:txBody>
      </p:sp>
      <p:sp>
        <p:nvSpPr>
          <p:cNvPr id="231" name="Google Shape;231;p9">
            <a:extLst xmlns:a="http://schemas.openxmlformats.org/drawingml/2006/main">
              <a:ext uri="{FF2B5EF4-FFF2-40B4-BE49-F238E27FC236}">
                <a16:creationId xmlns:a16="http://schemas.microsoft.com/office/drawing/2014/main" id="{D55C1993-87A0-46EA-8F3A-5FDB1976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325880"/>
            <a:ext cx="2624328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2" name="Google Shape;232;p9">
            <a:extLst xmlns:a="http://schemas.openxmlformats.org/drawingml/2006/main">
              <a:ext uri="{FF2B5EF4-FFF2-40B4-BE49-F238E27FC236}">
                <a16:creationId xmlns:a16="http://schemas.microsoft.com/office/drawing/2014/main" id="{B9DC0C25-8EB5-4608-AA9D-DE5B669D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149047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79" name="Google Shape;233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be715994ec4ce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561588" y="1549908"/>
            <a:ext cx="338328" cy="3383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4" name="Google Shape;234;p9">
            <a:extLst xmlns:a="http://schemas.openxmlformats.org/drawingml/2006/main">
              <a:ext uri="{FF2B5EF4-FFF2-40B4-BE49-F238E27FC236}">
                <a16:creationId xmlns:a16="http://schemas.microsoft.com/office/drawing/2014/main" id="{7103E224-A136-4DE1-9FD7-EC565B21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039112"/>
            <a:ext cx="2295144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APE Work Queues</a:t>
            </a:r>
          </a:p>
        </p:txBody>
      </p:sp>
      <p:sp>
        <p:nvSpPr>
          <p:cNvPr id="235" name="Google Shape;235;p9">
            <a:extLst xmlns:a="http://schemas.openxmlformats.org/drawingml/2006/main">
              <a:ext uri="{FF2B5EF4-FFF2-40B4-BE49-F238E27FC236}">
                <a16:creationId xmlns:a16="http://schemas.microsoft.com/office/drawing/2014/main" id="{097AAE23-F0C5-4BE7-A565-4196B5AC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368296"/>
            <a:ext cx="229514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Purpose: Tracks document review, submission, follow-up, and clearance</a:t>
            </a:r>
          </a:p>
        </p:txBody>
      </p:sp>
      <p:sp>
        <p:nvSpPr>
          <p:cNvPr id="236" name="Google Shape;236;p9">
            <a:extLst xmlns:a="http://schemas.openxmlformats.org/drawingml/2006/main">
              <a:ext uri="{FF2B5EF4-FFF2-40B4-BE49-F238E27FC236}">
                <a16:creationId xmlns:a16="http://schemas.microsoft.com/office/drawing/2014/main" id="{EEB963AB-53D1-4F19-88F3-2B4E8456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606040"/>
            <a:ext cx="229514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Benefit: Clearer APE monitoring</a:t>
            </a:r>
          </a:p>
        </p:txBody>
      </p:sp>
      <p:sp>
        <p:nvSpPr>
          <p:cNvPr id="237" name="Google Shape;237;p9">
            <a:extLst xmlns:a="http://schemas.openxmlformats.org/drawingml/2006/main">
              <a:ext uri="{FF2B5EF4-FFF2-40B4-BE49-F238E27FC236}">
                <a16:creationId xmlns:a16="http://schemas.microsoft.com/office/drawing/2014/main" id="{9E9DFA9A-4951-4629-ABEC-06AE73EA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325880"/>
            <a:ext cx="2624328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8" name="Google Shape;238;p9">
            <a:extLst xmlns:a="http://schemas.openxmlformats.org/drawingml/2006/main">
              <a:ext uri="{FF2B5EF4-FFF2-40B4-BE49-F238E27FC236}">
                <a16:creationId xmlns:a16="http://schemas.microsoft.com/office/drawing/2014/main" id="{177938B4-AB99-4B5B-84E4-E9218A37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149047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85" name="Google Shape;239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f6db83df494cd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50508" y="1549908"/>
            <a:ext cx="338328" cy="3383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0" name="Google Shape;240;p9">
            <a:extLst xmlns:a="http://schemas.openxmlformats.org/drawingml/2006/main">
              <a:ext uri="{FF2B5EF4-FFF2-40B4-BE49-F238E27FC236}">
                <a16:creationId xmlns:a16="http://schemas.microsoft.com/office/drawing/2014/main" id="{8F8E3F22-A029-4B62-8365-5E13E57B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2039112"/>
            <a:ext cx="2295144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Appointment Management</a:t>
            </a:r>
          </a:p>
        </p:txBody>
      </p:sp>
      <p:sp>
        <p:nvSpPr>
          <p:cNvPr id="241" name="Google Shape;241;p9">
            <a:extLst xmlns:a="http://schemas.openxmlformats.org/drawingml/2006/main">
              <a:ext uri="{FF2B5EF4-FFF2-40B4-BE49-F238E27FC236}">
                <a16:creationId xmlns:a16="http://schemas.microsoft.com/office/drawing/2014/main" id="{03978380-5F41-4C7C-B02A-AAB73F01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2368296"/>
            <a:ext cx="229514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Purpose: Lets students request consultations for staff approval</a:t>
            </a:r>
          </a:p>
        </p:txBody>
      </p:sp>
      <p:sp>
        <p:nvSpPr>
          <p:cNvPr id="242" name="Google Shape;242;p9">
            <a:extLst xmlns:a="http://schemas.openxmlformats.org/drawingml/2006/main">
              <a:ext uri="{FF2B5EF4-FFF2-40B4-BE49-F238E27FC236}">
                <a16:creationId xmlns:a16="http://schemas.microsoft.com/office/drawing/2014/main" id="{DC7491DA-4D9C-4D84-813E-514D4427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2606040"/>
            <a:ext cx="229514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Benefit: Better scheduling control</a:t>
            </a:r>
          </a:p>
        </p:txBody>
      </p:sp>
      <p:sp>
        <p:nvSpPr>
          <p:cNvPr id="243" name="Google Shape;243;p9">
            <a:extLst xmlns:a="http://schemas.openxmlformats.org/drawingml/2006/main">
              <a:ext uri="{FF2B5EF4-FFF2-40B4-BE49-F238E27FC236}">
                <a16:creationId xmlns:a16="http://schemas.microsoft.com/office/drawing/2014/main" id="{34D56E17-A981-4EB6-BAB8-C2A64CC4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90672"/>
            <a:ext cx="2624328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4" name="Google Shape;244;p9">
            <a:extLst xmlns:a="http://schemas.openxmlformats.org/drawingml/2006/main">
              <a:ext uri="{FF2B5EF4-FFF2-40B4-BE49-F238E27FC236}">
                <a16:creationId xmlns:a16="http://schemas.microsoft.com/office/drawing/2014/main" id="{16B8195A-F875-4D23-998E-C8161715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25526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91" name="Google Shape;24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1f56d90d199417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2668" y="3314700"/>
            <a:ext cx="338328" cy="3383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6" name="Google Shape;246;p9">
            <a:extLst xmlns:a="http://schemas.openxmlformats.org/drawingml/2006/main">
              <a:ext uri="{FF2B5EF4-FFF2-40B4-BE49-F238E27FC236}">
                <a16:creationId xmlns:a16="http://schemas.microsoft.com/office/drawing/2014/main" id="{3C3E6426-04D5-4989-9155-EB8296DA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03904"/>
            <a:ext cx="2295144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Patient Risk Classification</a:t>
            </a:r>
          </a:p>
        </p:txBody>
      </p:sp>
      <p:sp>
        <p:nvSpPr>
          <p:cNvPr id="247" name="Google Shape;247;p9">
            <a:extLst xmlns:a="http://schemas.openxmlformats.org/drawingml/2006/main">
              <a:ext uri="{FF2B5EF4-FFF2-40B4-BE49-F238E27FC236}">
                <a16:creationId xmlns:a16="http://schemas.microsoft.com/office/drawing/2014/main" id="{26E50521-E5B7-4AF5-8449-8B50798A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133088"/>
            <a:ext cx="229514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Purpose: Scores urgency from symptoms, vitals, BP, pulse, and keywords</a:t>
            </a:r>
          </a:p>
        </p:txBody>
      </p:sp>
      <p:sp>
        <p:nvSpPr>
          <p:cNvPr id="248" name="Google Shape;248;p9">
            <a:extLst xmlns:a="http://schemas.openxmlformats.org/drawingml/2006/main">
              <a:ext uri="{FF2B5EF4-FFF2-40B4-BE49-F238E27FC236}">
                <a16:creationId xmlns:a16="http://schemas.microsoft.com/office/drawing/2014/main" id="{93CF984F-DAEF-4912-9996-4E804DC7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370832"/>
            <a:ext cx="229514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Benefit: Consistent prioritization</a:t>
            </a:r>
          </a:p>
        </p:txBody>
      </p:sp>
      <p:sp>
        <p:nvSpPr>
          <p:cNvPr id="249" name="Google Shape;249;p9">
            <a:extLst xmlns:a="http://schemas.openxmlformats.org/drawingml/2006/main">
              <a:ext uri="{FF2B5EF4-FFF2-40B4-BE49-F238E27FC236}">
                <a16:creationId xmlns:a16="http://schemas.microsoft.com/office/drawing/2014/main" id="{E29C2383-A698-458A-BE97-6DEC720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090672"/>
            <a:ext cx="2624328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0" name="Google Shape;250;p9">
            <a:extLst xmlns:a="http://schemas.openxmlformats.org/drawingml/2006/main">
              <a:ext uri="{FF2B5EF4-FFF2-40B4-BE49-F238E27FC236}">
                <a16:creationId xmlns:a16="http://schemas.microsoft.com/office/drawing/2014/main" id="{CA53BE35-42EE-48F4-9EDA-785D9E84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25526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97" name="Google Shape;251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eaa6d614b945a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561588" y="3314700"/>
            <a:ext cx="338328" cy="3383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2" name="Google Shape;252;p9">
            <a:extLst xmlns:a="http://schemas.openxmlformats.org/drawingml/2006/main">
              <a:ext uri="{FF2B5EF4-FFF2-40B4-BE49-F238E27FC236}">
                <a16:creationId xmlns:a16="http://schemas.microsoft.com/office/drawing/2014/main" id="{97450615-B7F7-405B-B793-9337399B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803904"/>
            <a:ext cx="2295144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QR/NFC Health Passport</a:t>
            </a:r>
          </a:p>
        </p:txBody>
      </p:sp>
      <p:sp>
        <p:nvSpPr>
          <p:cNvPr id="253" name="Google Shape;253;p9">
            <a:extLst xmlns:a="http://schemas.openxmlformats.org/drawingml/2006/main">
              <a:ext uri="{FF2B5EF4-FFF2-40B4-BE49-F238E27FC236}">
                <a16:creationId xmlns:a16="http://schemas.microsoft.com/office/drawing/2014/main" id="{C8098682-4545-42F1-A48C-D4F95CDD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4133088"/>
            <a:ext cx="229514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Purpose: Provides a tokenized emergency-ready health link</a:t>
            </a:r>
          </a:p>
        </p:txBody>
      </p:sp>
      <p:sp>
        <p:nvSpPr>
          <p:cNvPr id="254" name="Google Shape;254;p9">
            <a:extLst xmlns:a="http://schemas.openxmlformats.org/drawingml/2006/main">
              <a:ext uri="{FF2B5EF4-FFF2-40B4-BE49-F238E27FC236}">
                <a16:creationId xmlns:a16="http://schemas.microsoft.com/office/drawing/2014/main" id="{6C1D2AC7-F060-4B44-B01F-668178FC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4370832"/>
            <a:ext cx="229514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Benefit: Faster emergency context</a:t>
            </a:r>
          </a:p>
        </p:txBody>
      </p:sp>
      <p:sp>
        <p:nvSpPr>
          <p:cNvPr id="255" name="Google Shape;255;p9">
            <a:extLst xmlns:a="http://schemas.openxmlformats.org/drawingml/2006/main">
              <a:ext uri="{FF2B5EF4-FFF2-40B4-BE49-F238E27FC236}">
                <a16:creationId xmlns:a16="http://schemas.microsoft.com/office/drawing/2014/main" id="{D21DB3DE-9330-43AF-85CD-B22A92BD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090672"/>
            <a:ext cx="2624328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6" name="Google Shape;256;p9">
            <a:extLst xmlns:a="http://schemas.openxmlformats.org/drawingml/2006/main">
              <a:ext uri="{FF2B5EF4-FFF2-40B4-BE49-F238E27FC236}">
                <a16:creationId xmlns:a16="http://schemas.microsoft.com/office/drawing/2014/main" id="{30D53D16-E2D7-422F-9171-3DB21355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325526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03" name="Google Shape;257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07c2ba7ee2b470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50508" y="3314700"/>
            <a:ext cx="338328" cy="3383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8" name="Google Shape;258;p9">
            <a:extLst xmlns:a="http://schemas.openxmlformats.org/drawingml/2006/main">
              <a:ext uri="{FF2B5EF4-FFF2-40B4-BE49-F238E27FC236}">
                <a16:creationId xmlns:a16="http://schemas.microsoft.com/office/drawing/2014/main" id="{2946AF06-D1D3-483C-BA8E-E9147C74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3803904"/>
            <a:ext cx="2295144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Real-Time Nurse Alerting</a:t>
            </a:r>
          </a:p>
        </p:txBody>
      </p:sp>
      <p:sp>
        <p:nvSpPr>
          <p:cNvPr id="259" name="Google Shape;259;p9">
            <a:extLst xmlns:a="http://schemas.openxmlformats.org/drawingml/2006/main">
              <a:ext uri="{FF2B5EF4-FFF2-40B4-BE49-F238E27FC236}">
                <a16:creationId xmlns:a16="http://schemas.microsoft.com/office/drawing/2014/main" id="{0E4F1BC4-0A97-455B-B5AF-66807A3C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4133088"/>
            <a:ext cx="229514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Purpose: Sends pending alerts through dashboard polling</a:t>
            </a:r>
          </a:p>
        </p:txBody>
      </p:sp>
      <p:sp>
        <p:nvSpPr>
          <p:cNvPr id="260" name="Google Shape;260;p9">
            <a:extLst xmlns:a="http://schemas.openxmlformats.org/drawingml/2006/main">
              <a:ext uri="{FF2B5EF4-FFF2-40B4-BE49-F238E27FC236}">
                <a16:creationId xmlns:a16="http://schemas.microsoft.com/office/drawing/2014/main" id="{962AF42F-D7EE-49B8-AAA5-540778C0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4370832"/>
            <a:ext cx="229514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Benefit: Faster clinic coordination</a:t>
            </a:r>
          </a:p>
        </p:txBody>
      </p:sp>
      <p:sp>
        <p:nvSpPr>
          <p:cNvPr id="261" name="Google Shape;261;p9">
            <a:extLst xmlns:a="http://schemas.openxmlformats.org/drawingml/2006/main">
              <a:ext uri="{FF2B5EF4-FFF2-40B4-BE49-F238E27FC236}">
                <a16:creationId xmlns:a16="http://schemas.microsoft.com/office/drawing/2014/main" id="{E4F06719-4534-4EE8-A234-9BD82500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43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262" name="Google Shape;262;p9">
            <a:extLst xmlns:a="http://schemas.openxmlformats.org/drawingml/2006/main">
              <a:ext uri="{FF2B5EF4-FFF2-40B4-BE49-F238E27FC236}">
                <a16:creationId xmlns:a16="http://schemas.microsoft.com/office/drawing/2014/main" id="{4D65475A-BCB5-4177-A222-10BDD061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431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CLINiQ</a:t>
            </a:r>
          </a:p>
        </p:txBody>
      </p:sp>
    </p:spTree>
    <p:extLst>
      <p:ext uri="{BB962C8B-B14F-4D97-AF65-F5344CB8AC3E}">
        <p14:creationId xmlns:p14="http://schemas.microsoft.com/office/powerpoint/2010/main" val="19360411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8" name="Google Shape;268;p10">
            <a:extLst xmlns:a="http://schemas.openxmlformats.org/drawingml/2006/main">
              <a:ext uri="{FF2B5EF4-FFF2-40B4-BE49-F238E27FC236}">
                <a16:creationId xmlns:a16="http://schemas.microsoft.com/office/drawing/2014/main" id="{2013FBE7-7256-48C0-9359-47D025DB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77724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0B2E33"/>
                </a:solidFill>
                <a:latin typeface="Cambria"/>
                <a:ea typeface="Cambria"/>
                <a:cs typeface="Cambria"/>
              </a:rPr>
              <a:t>Patient Risk Classification</a:t>
            </a:r>
          </a:p>
        </p:txBody>
      </p:sp>
      <p:sp>
        <p:nvSpPr>
          <p:cNvPr id="269" name="Google Shape;269;p10">
            <a:extLst xmlns:a="http://schemas.openxmlformats.org/drawingml/2006/main">
              <a:ext uri="{FF2B5EF4-FFF2-40B4-BE49-F238E27FC236}">
                <a16:creationId xmlns:a16="http://schemas.microsoft.com/office/drawing/2014/main" id="{A36803CD-DC2B-4C2D-A606-047C31D5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Rule-based decision support for nurse prioritization</a:t>
            </a:r>
          </a:p>
        </p:txBody>
      </p:sp>
      <p:sp>
        <p:nvSpPr>
          <p:cNvPr id="270" name="Google Shape;270;p10">
            <a:extLst xmlns:a="http://schemas.openxmlformats.org/drawingml/2006/main">
              <a:ext uri="{FF2B5EF4-FFF2-40B4-BE49-F238E27FC236}">
                <a16:creationId xmlns:a16="http://schemas.microsoft.com/office/drawing/2014/main" id="{906BF3B6-719E-4499-90C0-8A0F5D41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3566160" cy="237744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1" name="Google Shape;271;p10">
            <a:extLst xmlns:a="http://schemas.openxmlformats.org/drawingml/2006/main">
              <a:ext uri="{FF2B5EF4-FFF2-40B4-BE49-F238E27FC236}">
                <a16:creationId xmlns:a16="http://schemas.microsoft.com/office/drawing/2014/main" id="{81F2729E-F42C-404B-ACFA-36B1803B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6304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INPUTS</a:t>
            </a:r>
          </a:p>
        </p:txBody>
      </p:sp>
      <p:sp>
        <p:nvSpPr>
          <p:cNvPr id="272" name="Google Shape;272;p10">
            <a:extLst xmlns:a="http://schemas.openxmlformats.org/drawingml/2006/main">
              <a:ext uri="{FF2B5EF4-FFF2-40B4-BE49-F238E27FC236}">
                <a16:creationId xmlns:a16="http://schemas.microsoft.com/office/drawing/2014/main" id="{F011D15C-08C9-4D7A-B5A3-AAE50412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13" name="Google Shape;273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7e0633987244f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4789" y="1876349"/>
            <a:ext cx="270662" cy="2706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74" name="Google Shape;274;p10">
            <a:extLst xmlns:a="http://schemas.openxmlformats.org/drawingml/2006/main">
              <a:ext uri="{FF2B5EF4-FFF2-40B4-BE49-F238E27FC236}">
                <a16:creationId xmlns:a16="http://schemas.microsoft.com/office/drawing/2014/main" id="{DA63E3E7-BA6D-4603-BCF4-464A9924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8288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Symptoms</a:t>
            </a:r>
          </a:p>
        </p:txBody>
      </p:sp>
      <p:sp>
        <p:nvSpPr>
          <p:cNvPr id="275" name="Google Shape;275;p10">
            <a:extLst xmlns:a="http://schemas.openxmlformats.org/drawingml/2006/main">
              <a:ext uri="{FF2B5EF4-FFF2-40B4-BE49-F238E27FC236}">
                <a16:creationId xmlns:a16="http://schemas.microsoft.com/office/drawing/2014/main" id="{B3173AFE-2454-4A1F-9826-3EAB3DD1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860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16" name="Google Shape;276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6a239621694e2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4789" y="2333549"/>
            <a:ext cx="270662" cy="2706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77" name="Google Shape;277;p10">
            <a:extLst xmlns:a="http://schemas.openxmlformats.org/drawingml/2006/main">
              <a:ext uri="{FF2B5EF4-FFF2-40B4-BE49-F238E27FC236}">
                <a16:creationId xmlns:a16="http://schemas.microsoft.com/office/drawing/2014/main" id="{4D57ED99-6F6C-4AF0-845A-00107BA2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2860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Temperature</a:t>
            </a:r>
          </a:p>
        </p:txBody>
      </p:sp>
      <p:sp>
        <p:nvSpPr>
          <p:cNvPr id="278" name="Google Shape;278;p10">
            <a:extLst xmlns:a="http://schemas.openxmlformats.org/drawingml/2006/main">
              <a:ext uri="{FF2B5EF4-FFF2-40B4-BE49-F238E27FC236}">
                <a16:creationId xmlns:a16="http://schemas.microsoft.com/office/drawing/2014/main" id="{D70FB73C-6722-4A8E-BB05-26D378A2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432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19" name="Google Shape;27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56758cf819a404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4789" y="2790749"/>
            <a:ext cx="270662" cy="2706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80" name="Google Shape;280;p10">
            <a:extLst xmlns:a="http://schemas.openxmlformats.org/drawingml/2006/main">
              <a:ext uri="{FF2B5EF4-FFF2-40B4-BE49-F238E27FC236}">
                <a16:creationId xmlns:a16="http://schemas.microsoft.com/office/drawing/2014/main" id="{52491858-ABB3-4B8A-BDF1-558C07EF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7432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Pulse Rate</a:t>
            </a:r>
          </a:p>
        </p:txBody>
      </p:sp>
      <p:sp>
        <p:nvSpPr>
          <p:cNvPr id="281" name="Google Shape;281;p10">
            <a:extLst xmlns:a="http://schemas.openxmlformats.org/drawingml/2006/main">
              <a:ext uri="{FF2B5EF4-FFF2-40B4-BE49-F238E27FC236}">
                <a16:creationId xmlns:a16="http://schemas.microsoft.com/office/drawing/2014/main" id="{C0B6729C-4CF3-4AB4-87B2-1D8E92E9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22" name="Google Shape;282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e83005d1a145b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4789" y="3247949"/>
            <a:ext cx="270662" cy="2706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83" name="Google Shape;283;p10">
            <a:extLst xmlns:a="http://schemas.openxmlformats.org/drawingml/2006/main">
              <a:ext uri="{FF2B5EF4-FFF2-40B4-BE49-F238E27FC236}">
                <a16:creationId xmlns:a16="http://schemas.microsoft.com/office/drawing/2014/main" id="{ACEF5446-4DB8-4632-B4B1-A787B2A4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004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Blood Pressure / Keywords</a:t>
            </a:r>
          </a:p>
        </p:txBody>
      </p:sp>
      <p:sp>
        <p:nvSpPr>
          <p:cNvPr id="284" name="Google Shape;284;p10">
            <a:extLst xmlns:a="http://schemas.openxmlformats.org/drawingml/2006/main">
              <a:ext uri="{FF2B5EF4-FFF2-40B4-BE49-F238E27FC236}">
                <a16:creationId xmlns:a16="http://schemas.microsoft.com/office/drawing/2014/main" id="{90DE0F96-6680-4012-9912-F5E18431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2860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25" name="Google Shape;285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919ae053c634cd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225900" y="2351380"/>
            <a:ext cx="372161" cy="37216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86" name="Google Shape;286;p10">
            <a:extLst xmlns:a="http://schemas.openxmlformats.org/drawingml/2006/main">
              <a:ext uri="{FF2B5EF4-FFF2-40B4-BE49-F238E27FC236}">
                <a16:creationId xmlns:a16="http://schemas.microsoft.com/office/drawing/2014/main" id="{1A665E9A-0DAC-4530-82C8-26B8173A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280150"/>
            <a:ext cx="4095900" cy="237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5445E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7" name="Google Shape;287;p10">
            <a:extLst xmlns:a="http://schemas.openxmlformats.org/drawingml/2006/main">
              <a:ext uri="{FF2B5EF4-FFF2-40B4-BE49-F238E27FC236}">
                <a16:creationId xmlns:a16="http://schemas.microsoft.com/office/drawing/2014/main" id="{842B6993-9972-432F-B7AF-876DBA22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463040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OUTPUT: URGENCY LEVEL</a:t>
            </a:r>
          </a:p>
        </p:txBody>
      </p:sp>
      <p:sp>
        <p:nvSpPr>
          <p:cNvPr id="288" name="Google Shape;288;p10">
            <a:extLst xmlns:a="http://schemas.openxmlformats.org/drawingml/2006/main">
              <a:ext uri="{FF2B5EF4-FFF2-40B4-BE49-F238E27FC236}">
                <a16:creationId xmlns:a16="http://schemas.microsoft.com/office/drawing/2014/main" id="{708890F1-93D3-427A-B216-3CC0BCD7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965960"/>
            <a:ext cx="841248" cy="141732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0A89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9" name="Google Shape;289;p10">
            <a:extLst xmlns:a="http://schemas.openxmlformats.org/drawingml/2006/main">
              <a:ext uri="{FF2B5EF4-FFF2-40B4-BE49-F238E27FC236}">
                <a16:creationId xmlns:a16="http://schemas.microsoft.com/office/drawing/2014/main" id="{3B31F554-B4FD-4E70-8EA1-E2150AA3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965960"/>
            <a:ext cx="841248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Low</a:t>
            </a:r>
          </a:p>
        </p:txBody>
      </p:sp>
      <p:sp>
        <p:nvSpPr>
          <p:cNvPr id="290" name="Google Shape;290;p10">
            <a:extLst xmlns:a="http://schemas.openxmlformats.org/drawingml/2006/main">
              <a:ext uri="{FF2B5EF4-FFF2-40B4-BE49-F238E27FC236}">
                <a16:creationId xmlns:a16="http://schemas.microsoft.com/office/drawing/2014/main" id="{3C1FABBD-B0FF-442E-AE1C-CE5E71B2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1965960"/>
            <a:ext cx="841248" cy="141732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1" name="Google Shape;291;p10">
            <a:extLst xmlns:a="http://schemas.openxmlformats.org/drawingml/2006/main">
              <a:ext uri="{FF2B5EF4-FFF2-40B4-BE49-F238E27FC236}">
                <a16:creationId xmlns:a16="http://schemas.microsoft.com/office/drawing/2014/main" id="{D2DE4D3F-D6EC-48E4-846F-F64291F3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1965960"/>
            <a:ext cx="841248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Moderate</a:t>
            </a:r>
          </a:p>
        </p:txBody>
      </p:sp>
      <p:sp>
        <p:nvSpPr>
          <p:cNvPr id="292" name="Google Shape;292;p10">
            <a:extLst xmlns:a="http://schemas.openxmlformats.org/drawingml/2006/main">
              <a:ext uri="{FF2B5EF4-FFF2-40B4-BE49-F238E27FC236}">
                <a16:creationId xmlns:a16="http://schemas.microsoft.com/office/drawing/2014/main" id="{E0A6CB2D-02CD-4613-817E-4D2F87B2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965960"/>
            <a:ext cx="841248" cy="141732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08A4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3" name="Google Shape;293;p10">
            <a:extLst xmlns:a="http://schemas.openxmlformats.org/drawingml/2006/main">
              <a:ext uri="{FF2B5EF4-FFF2-40B4-BE49-F238E27FC236}">
                <a16:creationId xmlns:a16="http://schemas.microsoft.com/office/drawing/2014/main" id="{53EE8495-A077-428E-9F02-C88E0A07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965960"/>
            <a:ext cx="841248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High</a:t>
            </a:r>
          </a:p>
        </p:txBody>
      </p:sp>
      <p:sp>
        <p:nvSpPr>
          <p:cNvPr id="294" name="Google Shape;294;p10">
            <a:extLst xmlns:a="http://schemas.openxmlformats.org/drawingml/2006/main">
              <a:ext uri="{FF2B5EF4-FFF2-40B4-BE49-F238E27FC236}">
                <a16:creationId xmlns:a16="http://schemas.microsoft.com/office/drawing/2014/main" id="{0B83F58B-F186-4EE1-A3CF-6CEF45B4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984" y="1965960"/>
            <a:ext cx="841248" cy="141732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6394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5" name="Google Shape;295;p10">
            <a:extLst xmlns:a="http://schemas.openxmlformats.org/drawingml/2006/main">
              <a:ext uri="{FF2B5EF4-FFF2-40B4-BE49-F238E27FC236}">
                <a16:creationId xmlns:a16="http://schemas.microsoft.com/office/drawing/2014/main" id="{D74B3891-3805-4B1A-9B09-1C2D5E85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984" y="1965960"/>
            <a:ext cx="841248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Critical</a:t>
            </a:r>
          </a:p>
        </p:txBody>
      </p:sp>
      <p:sp>
        <p:nvSpPr>
          <p:cNvPr id="296" name="Google Shape;296;p10">
            <a:extLst xmlns:a="http://schemas.openxmlformats.org/drawingml/2006/main">
              <a:ext uri="{FF2B5EF4-FFF2-40B4-BE49-F238E27FC236}">
                <a16:creationId xmlns:a16="http://schemas.microsoft.com/office/drawing/2014/main" id="{971915D3-04DD-4342-8996-5EBBBE78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8138160" cy="77724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7" name="Google Shape;297;p10">
            <a:extLst xmlns:a="http://schemas.openxmlformats.org/drawingml/2006/main">
              <a:ext uri="{FF2B5EF4-FFF2-40B4-BE49-F238E27FC236}">
                <a16:creationId xmlns:a16="http://schemas.microsoft.com/office/drawing/2014/main" id="{117D5390-DC82-4921-8995-C3C4153D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8678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0B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38" name="Google Shape;298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1cf38697810455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2668" y="4046220"/>
            <a:ext cx="338328" cy="3383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99" name="Google Shape;299;p10">
            <a:extLst xmlns:a="http://schemas.openxmlformats.org/drawingml/2006/main">
              <a:ext uri="{FF2B5EF4-FFF2-40B4-BE49-F238E27FC236}">
                <a16:creationId xmlns:a16="http://schemas.microsoft.com/office/drawing/2014/main" id="{CF8E0614-2371-478F-91D3-B2099252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931920"/>
            <a:ext cx="71780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9C5700"/>
                </a:solidFill>
                <a:latin typeface="Calibri"/>
                <a:ea typeface="Calibri"/>
                <a:cs typeface="Calibri"/>
              </a:rPr>
              <a:t>Decision-support only - not a diagnostic AI. Final clinical judgment always remains with the nurse.</a:t>
            </a:r>
          </a:p>
        </p:txBody>
      </p:sp>
      <p:sp>
        <p:nvSpPr>
          <p:cNvPr id="300" name="Google Shape;300;p10">
            <a:extLst xmlns:a="http://schemas.openxmlformats.org/drawingml/2006/main">
              <a:ext uri="{FF2B5EF4-FFF2-40B4-BE49-F238E27FC236}">
                <a16:creationId xmlns:a16="http://schemas.microsoft.com/office/drawing/2014/main" id="{01344EB9-AC34-4F0C-99D6-87BF81BC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43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01" name="Google Shape;301;p10">
            <a:extLst xmlns:a="http://schemas.openxmlformats.org/drawingml/2006/main">
              <a:ext uri="{FF2B5EF4-FFF2-40B4-BE49-F238E27FC236}">
                <a16:creationId xmlns:a16="http://schemas.microsoft.com/office/drawing/2014/main" id="{7FEE1399-6DBF-49F4-AC3C-BC782C06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431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CLINiQ</a:t>
            </a:r>
          </a:p>
        </p:txBody>
      </p:sp>
    </p:spTree>
    <p:extLst>
      <p:ext uri="{BB962C8B-B14F-4D97-AF65-F5344CB8AC3E}">
        <p14:creationId xmlns:p14="http://schemas.microsoft.com/office/powerpoint/2010/main" val="6573317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" name="Google Shape;307;p11">
            <a:extLst xmlns:a="http://schemas.openxmlformats.org/drawingml/2006/main">
              <a:ext uri="{FF2B5EF4-FFF2-40B4-BE49-F238E27FC236}">
                <a16:creationId xmlns:a16="http://schemas.microsoft.com/office/drawing/2014/main" id="{35B4E5C2-D555-47FD-A399-8E2C0A45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78638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>
                <a:solidFill>
                  <a:srgbClr val="0B2E33"/>
                </a:solidFill>
                <a:latin typeface="Cambria"/>
                <a:ea typeface="Cambria"/>
                <a:cs typeface="Cambria"/>
              </a:rPr>
              <a:t>QR/NFC-Ready Emergency Health Passport</a:t>
            </a:r>
          </a:p>
        </p:txBody>
      </p:sp>
      <p:sp>
        <p:nvSpPr>
          <p:cNvPr id="308" name="Google Shape;308;p11">
            <a:extLst xmlns:a="http://schemas.openxmlformats.org/drawingml/2006/main">
              <a:ext uri="{FF2B5EF4-FFF2-40B4-BE49-F238E27FC236}">
                <a16:creationId xmlns:a16="http://schemas.microsoft.com/office/drawing/2014/main" id="{0B3DD0D0-711D-49D9-A7D4-17CB3334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Tokenized access to emergency-approved student health information</a:t>
            </a:r>
          </a:p>
        </p:txBody>
      </p:sp>
      <p:sp>
        <p:nvSpPr>
          <p:cNvPr id="309" name="Google Shape;309;p11">
            <a:extLst xmlns:a="http://schemas.openxmlformats.org/drawingml/2006/main">
              <a:ext uri="{FF2B5EF4-FFF2-40B4-BE49-F238E27FC236}">
                <a16:creationId xmlns:a16="http://schemas.microsoft.com/office/drawing/2014/main" id="{92D14DCB-6733-43FD-A9A2-39A817A9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17320"/>
            <a:ext cx="1847088" cy="9144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0" name="Google Shape;310;p11">
            <a:extLst xmlns:a="http://schemas.openxmlformats.org/drawingml/2006/main">
              <a:ext uri="{FF2B5EF4-FFF2-40B4-BE49-F238E27FC236}">
                <a16:creationId xmlns:a16="http://schemas.microsoft.com/office/drawing/2014/main" id="{25623C78-E63D-4EBE-BBD7-F18D9E83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52704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64" name="Google Shape;311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6c1047bc1a42e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70833" y="1581729"/>
            <a:ext cx="311262" cy="3112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2" name="Google Shape;312;p11">
            <a:extLst xmlns:a="http://schemas.openxmlformats.org/drawingml/2006/main">
              <a:ext uri="{FF2B5EF4-FFF2-40B4-BE49-F238E27FC236}">
                <a16:creationId xmlns:a16="http://schemas.microsoft.com/office/drawing/2014/main" id="{D690DF62-DF80-4F67-B720-738FC837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84248"/>
            <a:ext cx="1755648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Student Health Passport</a:t>
            </a:r>
          </a:p>
        </p:txBody>
      </p:sp>
      <p:sp>
        <p:nvSpPr>
          <p:cNvPr id="313" name="Google Shape;313;p11">
            <a:extLst xmlns:a="http://schemas.openxmlformats.org/drawingml/2006/main">
              <a:ext uri="{FF2B5EF4-FFF2-40B4-BE49-F238E27FC236}">
                <a16:creationId xmlns:a16="http://schemas.microsoft.com/office/drawing/2014/main" id="{6D9A0FE7-A97C-4EF4-94B4-DF943097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1417320"/>
            <a:ext cx="1847088" cy="9144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4" name="Google Shape;314;p11">
            <a:extLst xmlns:a="http://schemas.openxmlformats.org/drawingml/2006/main">
              <a:ext uri="{FF2B5EF4-FFF2-40B4-BE49-F238E27FC236}">
                <a16:creationId xmlns:a16="http://schemas.microsoft.com/office/drawing/2014/main" id="{5826FF41-C8CA-4A95-96BF-B1CAFC47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152704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68" name="Google Shape;315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d092801d41545b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64225" y="1581729"/>
            <a:ext cx="311262" cy="3112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6" name="Google Shape;316;p11">
            <a:extLst xmlns:a="http://schemas.openxmlformats.org/drawingml/2006/main">
              <a:ext uri="{FF2B5EF4-FFF2-40B4-BE49-F238E27FC236}">
                <a16:creationId xmlns:a16="http://schemas.microsoft.com/office/drawing/2014/main" id="{6016C9BF-DA50-46FC-8FBB-64CA4217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1984248"/>
            <a:ext cx="1755648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QR Scan or NFC Tap</a:t>
            </a:r>
          </a:p>
        </p:txBody>
      </p:sp>
      <p:sp>
        <p:nvSpPr>
          <p:cNvPr id="317" name="Google Shape;317;p11">
            <a:extLst xmlns:a="http://schemas.openxmlformats.org/drawingml/2006/main">
              <a:ext uri="{FF2B5EF4-FFF2-40B4-BE49-F238E27FC236}">
                <a16:creationId xmlns:a16="http://schemas.microsoft.com/office/drawing/2014/main" id="{34FC75A9-D766-47CB-B19B-FAE56EDD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417320"/>
            <a:ext cx="1847088" cy="9144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8" name="Google Shape;318;p11">
            <a:extLst xmlns:a="http://schemas.openxmlformats.org/drawingml/2006/main">
              <a:ext uri="{FF2B5EF4-FFF2-40B4-BE49-F238E27FC236}">
                <a16:creationId xmlns:a16="http://schemas.microsoft.com/office/drawing/2014/main" id="{498EC71B-4FE1-4ADF-9695-C7878A34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152704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72" name="Google Shape;319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c652afe1f5746a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57617" y="1581729"/>
            <a:ext cx="311262" cy="3112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0" name="Google Shape;320;p11">
            <a:extLst xmlns:a="http://schemas.openxmlformats.org/drawingml/2006/main">
              <a:ext uri="{FF2B5EF4-FFF2-40B4-BE49-F238E27FC236}">
                <a16:creationId xmlns:a16="http://schemas.microsoft.com/office/drawing/2014/main" id="{531DC75D-7BB8-404D-B5CB-DD126E2F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1984248"/>
            <a:ext cx="1755648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Token Validation</a:t>
            </a:r>
          </a:p>
        </p:txBody>
      </p:sp>
      <p:sp>
        <p:nvSpPr>
          <p:cNvPr id="321" name="Google Shape;321;p11">
            <a:extLst xmlns:a="http://schemas.openxmlformats.org/drawingml/2006/main">
              <a:ext uri="{FF2B5EF4-FFF2-40B4-BE49-F238E27FC236}">
                <a16:creationId xmlns:a16="http://schemas.microsoft.com/office/drawing/2014/main" id="{62E73265-59DF-479C-AD0E-1E1257DD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1417320"/>
            <a:ext cx="1847088" cy="9144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2" name="Google Shape;322;p11">
            <a:extLst xmlns:a="http://schemas.openxmlformats.org/drawingml/2006/main">
              <a:ext uri="{FF2B5EF4-FFF2-40B4-BE49-F238E27FC236}">
                <a16:creationId xmlns:a16="http://schemas.microsoft.com/office/drawing/2014/main" id="{B2DA7558-F6C4-47AE-AD04-BCB95915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328" y="152704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76" name="Google Shape;323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ee0d59eb0746e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51009" y="1581729"/>
            <a:ext cx="311262" cy="3112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4" name="Google Shape;324;p11">
            <a:extLst xmlns:a="http://schemas.openxmlformats.org/drawingml/2006/main">
              <a:ext uri="{FF2B5EF4-FFF2-40B4-BE49-F238E27FC236}">
                <a16:creationId xmlns:a16="http://schemas.microsoft.com/office/drawing/2014/main" id="{979A4B88-ED64-4D24-B114-F531685C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816" y="1984248"/>
            <a:ext cx="1755648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Emergency Profile / Report</a:t>
            </a:r>
          </a:p>
        </p:txBody>
      </p:sp>
      <p:sp>
        <p:nvSpPr>
          <p:cNvPr id="325" name="Google Shape;325;p11">
            <a:extLst xmlns:a="http://schemas.openxmlformats.org/drawingml/2006/main">
              <a:ext uri="{FF2B5EF4-FFF2-40B4-BE49-F238E27FC236}">
                <a16:creationId xmlns:a16="http://schemas.microsoft.com/office/drawing/2014/main" id="{69EBCD25-34CF-4D31-A885-D3874635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173736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A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79" name="Google Shape;326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bf58710abc5489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377440" y="1773936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7" name="Google Shape;327;p11">
            <a:extLst xmlns:a="http://schemas.openxmlformats.org/drawingml/2006/main">
              <a:ext uri="{FF2B5EF4-FFF2-40B4-BE49-F238E27FC236}">
                <a16:creationId xmlns:a16="http://schemas.microsoft.com/office/drawing/2014/main" id="{0F07CA89-95F4-4952-9759-4EA76060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173736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A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81" name="Google Shape;328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bf58710abc5489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70832" y="1773936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9" name="Google Shape;329;p11">
            <a:extLst xmlns:a="http://schemas.openxmlformats.org/drawingml/2006/main">
              <a:ext uri="{FF2B5EF4-FFF2-40B4-BE49-F238E27FC236}">
                <a16:creationId xmlns:a16="http://schemas.microsoft.com/office/drawing/2014/main" id="{1AF33A36-12EF-4630-A8D0-1CB8AAE0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173736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A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83" name="Google Shape;33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bf58710abc5489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64224" y="1773936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1" name="Google Shape;331;p11">
            <a:extLst xmlns:a="http://schemas.openxmlformats.org/drawingml/2006/main">
              <a:ext uri="{FF2B5EF4-FFF2-40B4-BE49-F238E27FC236}">
                <a16:creationId xmlns:a16="http://schemas.microsoft.com/office/drawing/2014/main" id="{B1BAEC16-921F-4548-B194-F28FAFB8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8138100" cy="20118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5445E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2" name="Google Shape;332;p11">
            <a:extLst xmlns:a="http://schemas.openxmlformats.org/drawingml/2006/main">
              <a:ext uri="{FF2B5EF4-FFF2-40B4-BE49-F238E27FC236}">
                <a16:creationId xmlns:a16="http://schemas.microsoft.com/office/drawing/2014/main" id="{3B42F39A-CA97-486A-85AF-E9879F01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88920"/>
            <a:ext cx="36576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DISPLAYS ONLY:</a:t>
            </a:r>
          </a:p>
        </p:txBody>
      </p:sp>
      <p:sp>
        <p:nvSpPr>
          <p:cNvPr id="333" name="Google Shape;333;p11">
            <a:extLst xmlns:a="http://schemas.openxmlformats.org/drawingml/2006/main">
              <a:ext uri="{FF2B5EF4-FFF2-40B4-BE49-F238E27FC236}">
                <a16:creationId xmlns:a16="http://schemas.microsoft.com/office/drawing/2014/main" id="{DD4CD0AA-09B1-4F63-BED6-8291C252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235" y="3246170"/>
            <a:ext cx="502800" cy="50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87" name="Google Shape;334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6fbfee1331429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05615" y="3311550"/>
            <a:ext cx="372161" cy="37216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5" name="Google Shape;335;p11">
            <a:extLst xmlns:a="http://schemas.openxmlformats.org/drawingml/2006/main">
              <a:ext uri="{FF2B5EF4-FFF2-40B4-BE49-F238E27FC236}">
                <a16:creationId xmlns:a16="http://schemas.microsoft.com/office/drawing/2014/main" id="{D85B44C1-0362-4A4C-8DF2-FFC2AB26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3048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Allergies</a:t>
            </a:r>
          </a:p>
        </p:txBody>
      </p:sp>
      <p:sp>
        <p:nvSpPr>
          <p:cNvPr id="336" name="Google Shape;336;p11">
            <a:extLst xmlns:a="http://schemas.openxmlformats.org/drawingml/2006/main">
              <a:ext uri="{FF2B5EF4-FFF2-40B4-BE49-F238E27FC236}">
                <a16:creationId xmlns:a16="http://schemas.microsoft.com/office/drawing/2014/main" id="{7D730148-2A4F-4544-B0D2-BDA1E25B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475" y="3246170"/>
            <a:ext cx="502800" cy="50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90" name="Google Shape;337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6186ac5d52430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25855" y="3311550"/>
            <a:ext cx="372161" cy="37216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8" name="Google Shape;338;p11">
            <a:extLst xmlns:a="http://schemas.openxmlformats.org/drawingml/2006/main">
              <a:ext uri="{FF2B5EF4-FFF2-40B4-BE49-F238E27FC236}">
                <a16:creationId xmlns:a16="http://schemas.microsoft.com/office/drawing/2014/main" id="{99F84753-0BCB-4A9D-A7D9-22D3F440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813048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Existing Conditions</a:t>
            </a:r>
          </a:p>
        </p:txBody>
      </p:sp>
      <p:sp>
        <p:nvSpPr>
          <p:cNvPr id="339" name="Google Shape;339;p11">
            <a:extLst xmlns:a="http://schemas.openxmlformats.org/drawingml/2006/main">
              <a:ext uri="{FF2B5EF4-FFF2-40B4-BE49-F238E27FC236}">
                <a16:creationId xmlns:a16="http://schemas.microsoft.com/office/drawing/2014/main" id="{02473673-8481-4354-A6C8-AE79D76C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813048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Emergency Instructions</a:t>
            </a:r>
          </a:p>
        </p:txBody>
      </p:sp>
      <p:sp>
        <p:nvSpPr>
          <p:cNvPr id="341" name="Google Shape;341;p11">
            <a:extLst xmlns:a="http://schemas.openxmlformats.org/drawingml/2006/main">
              <a:ext uri="{FF2B5EF4-FFF2-40B4-BE49-F238E27FC236}">
                <a16:creationId xmlns:a16="http://schemas.microsoft.com/office/drawing/2014/main" id="{162EF3E2-2022-433A-AC5B-2C55FBD3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0715" y="3246181"/>
            <a:ext cx="502800" cy="50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94" name="Google Shape;342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15856c2e68e4ad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5346095" y="3311562"/>
            <a:ext cx="372161" cy="37216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3" name="Google Shape;343;p11">
            <a:extLst xmlns:a="http://schemas.openxmlformats.org/drawingml/2006/main">
              <a:ext uri="{FF2B5EF4-FFF2-40B4-BE49-F238E27FC236}">
                <a16:creationId xmlns:a16="http://schemas.microsoft.com/office/drawing/2014/main" id="{177E7D58-DBB7-477A-9CA8-4502C602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0955" y="3246181"/>
            <a:ext cx="502800" cy="50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96" name="Google Shape;344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11f296a77b84c5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7266335" y="3311562"/>
            <a:ext cx="372161" cy="37216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5" name="Google Shape;345;p11">
            <a:extLst xmlns:a="http://schemas.openxmlformats.org/drawingml/2006/main">
              <a:ext uri="{FF2B5EF4-FFF2-40B4-BE49-F238E27FC236}">
                <a16:creationId xmlns:a16="http://schemas.microsoft.com/office/drawing/2014/main" id="{2D99717B-D198-4BDB-A046-139C7BB8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813048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Guardian Contact</a:t>
            </a:r>
          </a:p>
        </p:txBody>
      </p:sp>
      <p:sp>
        <p:nvSpPr>
          <p:cNvPr id="346" name="Google Shape;346;p11">
            <a:extLst xmlns:a="http://schemas.openxmlformats.org/drawingml/2006/main">
              <a:ext uri="{FF2B5EF4-FFF2-40B4-BE49-F238E27FC236}">
                <a16:creationId xmlns:a16="http://schemas.microsoft.com/office/drawing/2014/main" id="{B96C73B4-088D-45E8-8012-4B84071B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24528"/>
            <a:ext cx="749808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i="1">
                <a:solidFill>
                  <a:srgbClr val="9FC5CC"/>
                </a:solidFill>
                <a:latin typeface="Calibri"/>
                <a:ea typeface="Calibri"/>
                <a:cs typeface="Calibri"/>
              </a:rPr>
              <a:t>Emergency-approved details are separated from full clinic records, which remain protected behind staff login.</a:t>
            </a:r>
          </a:p>
        </p:txBody>
      </p:sp>
      <p:sp>
        <p:nvSpPr>
          <p:cNvPr id="347" name="Google Shape;347;p11">
            <a:extLst xmlns:a="http://schemas.openxmlformats.org/drawingml/2006/main">
              <a:ext uri="{FF2B5EF4-FFF2-40B4-BE49-F238E27FC236}">
                <a16:creationId xmlns:a16="http://schemas.microsoft.com/office/drawing/2014/main" id="{9E2D1178-5854-496F-9F2D-542183AB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43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348" name="Google Shape;348;p11">
            <a:extLst xmlns:a="http://schemas.openxmlformats.org/drawingml/2006/main">
              <a:ext uri="{FF2B5EF4-FFF2-40B4-BE49-F238E27FC236}">
                <a16:creationId xmlns:a16="http://schemas.microsoft.com/office/drawing/2014/main" id="{B49338A3-5ADD-4F9C-80AD-86957FE9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431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CLINiQ</a:t>
            </a:r>
          </a:p>
        </p:txBody>
      </p:sp>
    </p:spTree>
    <p:extLst>
      <p:ext uri="{BB962C8B-B14F-4D97-AF65-F5344CB8AC3E}">
        <p14:creationId xmlns:p14="http://schemas.microsoft.com/office/powerpoint/2010/main" val="17898776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4" name="Google Shape;354;p12">
            <a:extLst xmlns:a="http://schemas.openxmlformats.org/drawingml/2006/main">
              <a:ext uri="{FF2B5EF4-FFF2-40B4-BE49-F238E27FC236}">
                <a16:creationId xmlns:a16="http://schemas.microsoft.com/office/drawing/2014/main" id="{8F28EE86-8C29-4AE8-B2EB-C1B3E1C5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78638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0B2E33"/>
                </a:solidFill>
                <a:latin typeface="Cambria"/>
                <a:ea typeface="Cambria"/>
                <a:cs typeface="Cambria"/>
              </a:rPr>
              <a:t>Near Real-Time Nurse Alerting</a:t>
            </a:r>
          </a:p>
        </p:txBody>
      </p:sp>
      <p:sp>
        <p:nvSpPr>
          <p:cNvPr id="355" name="Google Shape;355;p12">
            <a:extLst xmlns:a="http://schemas.openxmlformats.org/drawingml/2006/main">
              <a:ext uri="{FF2B5EF4-FFF2-40B4-BE49-F238E27FC236}">
                <a16:creationId xmlns:a16="http://schemas.microsoft.com/office/drawing/2014/main" id="{CF753408-3E98-4E79-8076-5E7C0A49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Improving emergency communication and clinic coordination</a:t>
            </a:r>
          </a:p>
        </p:txBody>
      </p:sp>
      <p:sp>
        <p:nvSpPr>
          <p:cNvPr id="356" name="Google Shape;356;p12">
            <a:extLst xmlns:a="http://schemas.openxmlformats.org/drawingml/2006/main">
              <a:ext uri="{FF2B5EF4-FFF2-40B4-BE49-F238E27FC236}">
                <a16:creationId xmlns:a16="http://schemas.microsoft.com/office/drawing/2014/main" id="{2AFA9142-518F-4634-BC01-B99AB158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17320"/>
            <a:ext cx="1481328" cy="141732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7" name="Google Shape;357;p12">
            <a:extLst xmlns:a="http://schemas.openxmlformats.org/drawingml/2006/main">
              <a:ext uri="{FF2B5EF4-FFF2-40B4-BE49-F238E27FC236}">
                <a16:creationId xmlns:a16="http://schemas.microsoft.com/office/drawing/2014/main" id="{ACB2BF0C-1C84-455F-8EAC-C74C74B2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" y="16002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412" name="Google Shape;358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d9d47c1244c495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7504" y="1665580"/>
            <a:ext cx="372161" cy="37216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59" name="Google Shape;359;p12">
            <a:extLst xmlns:a="http://schemas.openxmlformats.org/drawingml/2006/main">
              <a:ext uri="{FF2B5EF4-FFF2-40B4-BE49-F238E27FC236}">
                <a16:creationId xmlns:a16="http://schemas.microsoft.com/office/drawing/2014/main" id="{CC542D2C-01F6-472E-BB62-88DC4C1F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221992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Emergency Occurs</a:t>
            </a:r>
          </a:p>
        </p:txBody>
      </p:sp>
      <p:sp>
        <p:nvSpPr>
          <p:cNvPr id="360" name="Google Shape;360;p12">
            <a:extLst xmlns:a="http://schemas.openxmlformats.org/drawingml/2006/main">
              <a:ext uri="{FF2B5EF4-FFF2-40B4-BE49-F238E27FC236}">
                <a16:creationId xmlns:a16="http://schemas.microsoft.com/office/drawing/2014/main" id="{E835151E-62A4-487E-9703-DBAF12E0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2527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1" name="Google Shape;361;p12">
            <a:extLst xmlns:a="http://schemas.openxmlformats.org/drawingml/2006/main">
              <a:ext uri="{FF2B5EF4-FFF2-40B4-BE49-F238E27FC236}">
                <a16:creationId xmlns:a16="http://schemas.microsoft.com/office/drawing/2014/main" id="{D1AF5780-97C6-440A-BF4F-D00CD09F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25272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362" name="Google Shape;362;p12">
            <a:extLst xmlns:a="http://schemas.openxmlformats.org/drawingml/2006/main">
              <a:ext uri="{FF2B5EF4-FFF2-40B4-BE49-F238E27FC236}">
                <a16:creationId xmlns:a16="http://schemas.microsoft.com/office/drawing/2014/main" id="{7748ADCC-FC53-436D-BFC6-16B7DCEF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820" y="199796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A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417" name="Google Shape;363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586aa1936f40a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10421" y="2048253"/>
            <a:ext cx="201168" cy="2011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64" name="Google Shape;364;p12">
            <a:extLst xmlns:a="http://schemas.openxmlformats.org/drawingml/2006/main">
              <a:ext uri="{FF2B5EF4-FFF2-40B4-BE49-F238E27FC236}">
                <a16:creationId xmlns:a16="http://schemas.microsoft.com/office/drawing/2014/main" id="{43FEBB58-1463-4D15-9FC2-A9D51AF0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417320"/>
            <a:ext cx="1481328" cy="141732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5" name="Google Shape;365;p12">
            <a:extLst xmlns:a="http://schemas.openxmlformats.org/drawingml/2006/main">
              <a:ext uri="{FF2B5EF4-FFF2-40B4-BE49-F238E27FC236}">
                <a16:creationId xmlns:a16="http://schemas.microsoft.com/office/drawing/2014/main" id="{8C812E2B-9DFD-4C51-821B-0C4B0A40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324" y="16002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420" name="Google Shape;366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c3e58c54b7470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657704" y="1665580"/>
            <a:ext cx="372161" cy="37216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67" name="Google Shape;367;p12">
            <a:extLst xmlns:a="http://schemas.openxmlformats.org/drawingml/2006/main">
              <a:ext uri="{FF2B5EF4-FFF2-40B4-BE49-F238E27FC236}">
                <a16:creationId xmlns:a16="http://schemas.microsoft.com/office/drawing/2014/main" id="{0D126353-B655-4592-8EEE-5621D533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984" y="2221992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Student/Teacher submits report</a:t>
            </a:r>
          </a:p>
        </p:txBody>
      </p:sp>
      <p:sp>
        <p:nvSpPr>
          <p:cNvPr id="369" name="Google Shape;369;p12">
            <a:extLst xmlns:a="http://schemas.openxmlformats.org/drawingml/2006/main">
              <a:ext uri="{FF2B5EF4-FFF2-40B4-BE49-F238E27FC236}">
                <a16:creationId xmlns:a16="http://schemas.microsoft.com/office/drawing/2014/main" id="{21317A0D-5887-4B7D-AC16-E375A22D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3122" y="1252766"/>
            <a:ext cx="292500" cy="29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0" name="Google Shape;370;p12">
            <a:extLst xmlns:a="http://schemas.openxmlformats.org/drawingml/2006/main">
              <a:ext uri="{FF2B5EF4-FFF2-40B4-BE49-F238E27FC236}">
                <a16:creationId xmlns:a16="http://schemas.microsoft.com/office/drawing/2014/main" id="{A8721CF6-00C7-4076-8846-2D570C34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3125" y="1252763"/>
            <a:ext cx="2559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371" name="Google Shape;371;p12">
            <a:extLst xmlns:a="http://schemas.openxmlformats.org/drawingml/2006/main">
              <a:ext uri="{FF2B5EF4-FFF2-40B4-BE49-F238E27FC236}">
                <a16:creationId xmlns:a16="http://schemas.microsoft.com/office/drawing/2014/main" id="{56EFBFA4-0000-4DFB-8265-AAAAB33A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020" y="199796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A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425" name="Google Shape;372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586aa1936f40a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510621" y="2048253"/>
            <a:ext cx="201168" cy="2011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3" name="Google Shape;373;p12">
            <a:extLst xmlns:a="http://schemas.openxmlformats.org/drawingml/2006/main">
              <a:ext uri="{FF2B5EF4-FFF2-40B4-BE49-F238E27FC236}">
                <a16:creationId xmlns:a16="http://schemas.microsoft.com/office/drawing/2014/main" id="{661ED4A3-1665-4E53-8979-923671C1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417320"/>
            <a:ext cx="1481328" cy="141732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4" name="Google Shape;374;p12">
            <a:extLst xmlns:a="http://schemas.openxmlformats.org/drawingml/2006/main">
              <a:ext uri="{FF2B5EF4-FFF2-40B4-BE49-F238E27FC236}">
                <a16:creationId xmlns:a16="http://schemas.microsoft.com/office/drawing/2014/main" id="{098C0F61-A35F-4799-BC0A-FF67E9DF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524" y="16002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428" name="Google Shape;375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cd5cd773364fe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257904" y="1665580"/>
            <a:ext cx="372161" cy="37216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6" name="Google Shape;376;p12">
            <a:extLst xmlns:a="http://schemas.openxmlformats.org/drawingml/2006/main">
              <a:ext uri="{FF2B5EF4-FFF2-40B4-BE49-F238E27FC236}">
                <a16:creationId xmlns:a16="http://schemas.microsoft.com/office/drawing/2014/main" id="{487C27C4-F6F3-4241-BDBE-E6B63F4D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184" y="2221992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Clinic dashboard receives alert</a:t>
            </a:r>
          </a:p>
        </p:txBody>
      </p:sp>
      <p:sp>
        <p:nvSpPr>
          <p:cNvPr id="377" name="Google Shape;377;p12">
            <a:extLst xmlns:a="http://schemas.openxmlformats.org/drawingml/2006/main">
              <a:ext uri="{FF2B5EF4-FFF2-40B4-BE49-F238E27FC236}">
                <a16:creationId xmlns:a16="http://schemas.microsoft.com/office/drawing/2014/main" id="{BC56EA54-9A34-43C8-95F4-F174205E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184" y="12527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8" name="Google Shape;378;p12">
            <a:extLst xmlns:a="http://schemas.openxmlformats.org/drawingml/2006/main">
              <a:ext uri="{FF2B5EF4-FFF2-40B4-BE49-F238E27FC236}">
                <a16:creationId xmlns:a16="http://schemas.microsoft.com/office/drawing/2014/main" id="{AD83EDD9-EDC6-4655-8FEC-EC697F8B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184" y="125272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379" name="Google Shape;379;p12">
            <a:extLst xmlns:a="http://schemas.openxmlformats.org/drawingml/2006/main">
              <a:ext uri="{FF2B5EF4-FFF2-40B4-BE49-F238E27FC236}">
                <a16:creationId xmlns:a16="http://schemas.microsoft.com/office/drawing/2014/main" id="{212A2D5A-682C-4C9E-AB0D-036659CF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20" y="199796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A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433" name="Google Shape;380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586aa1936f40a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110821" y="2048253"/>
            <a:ext cx="201168" cy="2011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81" name="Google Shape;381;p12">
            <a:extLst xmlns:a="http://schemas.openxmlformats.org/drawingml/2006/main">
              <a:ext uri="{FF2B5EF4-FFF2-40B4-BE49-F238E27FC236}">
                <a16:creationId xmlns:a16="http://schemas.microsoft.com/office/drawing/2014/main" id="{968B4573-AAB9-4FA1-8CF0-F4373C8E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417320"/>
            <a:ext cx="1481328" cy="141732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2" name="Google Shape;382;p12">
            <a:extLst xmlns:a="http://schemas.openxmlformats.org/drawingml/2006/main">
              <a:ext uri="{FF2B5EF4-FFF2-40B4-BE49-F238E27FC236}">
                <a16:creationId xmlns:a16="http://schemas.microsoft.com/office/drawing/2014/main" id="{8970A029-A7DD-493E-A1CC-D20FE13D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724" y="16002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436" name="Google Shape;383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32801f85db94db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58104" y="1665580"/>
            <a:ext cx="372161" cy="37216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84" name="Google Shape;384;p12">
            <a:extLst xmlns:a="http://schemas.openxmlformats.org/drawingml/2006/main">
              <a:ext uri="{FF2B5EF4-FFF2-40B4-BE49-F238E27FC236}">
                <a16:creationId xmlns:a16="http://schemas.microsoft.com/office/drawing/2014/main" id="{9F1CADC1-72A3-4CC6-AD27-9F1BC773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2221992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Nurse Responds</a:t>
            </a:r>
          </a:p>
        </p:txBody>
      </p:sp>
      <p:sp>
        <p:nvSpPr>
          <p:cNvPr id="385" name="Google Shape;385;p12">
            <a:extLst xmlns:a="http://schemas.openxmlformats.org/drawingml/2006/main">
              <a:ext uri="{FF2B5EF4-FFF2-40B4-BE49-F238E27FC236}">
                <a16:creationId xmlns:a16="http://schemas.microsoft.com/office/drawing/2014/main" id="{6B0BA46F-4B3B-471F-A88C-AD5CA2B0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12527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6" name="Google Shape;386;p12">
            <a:extLst xmlns:a="http://schemas.openxmlformats.org/drawingml/2006/main">
              <a:ext uri="{FF2B5EF4-FFF2-40B4-BE49-F238E27FC236}">
                <a16:creationId xmlns:a16="http://schemas.microsoft.com/office/drawing/2014/main" id="{95764BC0-C394-4A05-BC76-8406CF6C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125272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387" name="Google Shape;387;p12">
            <a:extLst xmlns:a="http://schemas.openxmlformats.org/drawingml/2006/main">
              <a:ext uri="{FF2B5EF4-FFF2-40B4-BE49-F238E27FC236}">
                <a16:creationId xmlns:a16="http://schemas.microsoft.com/office/drawing/2014/main" id="{2015C940-0F53-4ECF-AF1A-0FC73F26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420" y="199796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A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441" name="Google Shape;388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586aa1936f40a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711021" y="2048253"/>
            <a:ext cx="201168" cy="2011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89" name="Google Shape;389;p12">
            <a:extLst xmlns:a="http://schemas.openxmlformats.org/drawingml/2006/main">
              <a:ext uri="{FF2B5EF4-FFF2-40B4-BE49-F238E27FC236}">
                <a16:creationId xmlns:a16="http://schemas.microsoft.com/office/drawing/2014/main" id="{DDC7C596-C8F1-47B0-BAFB-3BADD514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417320"/>
            <a:ext cx="1481328" cy="141732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0" name="Google Shape;390;p12">
            <a:extLst xmlns:a="http://schemas.openxmlformats.org/drawingml/2006/main">
              <a:ext uri="{FF2B5EF4-FFF2-40B4-BE49-F238E27FC236}">
                <a16:creationId xmlns:a16="http://schemas.microsoft.com/office/drawing/2014/main" id="{E9B24CE2-1D5C-40A2-A857-C1278533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924" y="16002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444" name="Google Shape;391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753f57d82d34fe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58304" y="1665580"/>
            <a:ext cx="372161" cy="37216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92" name="Google Shape;392;p12">
            <a:extLst xmlns:a="http://schemas.openxmlformats.org/drawingml/2006/main">
              <a:ext uri="{FF2B5EF4-FFF2-40B4-BE49-F238E27FC236}">
                <a16:creationId xmlns:a16="http://schemas.microsoft.com/office/drawing/2014/main" id="{9438B432-F571-44B9-A1DD-FA998E28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2221992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Incident Documented</a:t>
            </a:r>
          </a:p>
        </p:txBody>
      </p:sp>
      <p:sp>
        <p:nvSpPr>
          <p:cNvPr id="393" name="Google Shape;393;p12">
            <a:extLst xmlns:a="http://schemas.openxmlformats.org/drawingml/2006/main">
              <a:ext uri="{FF2B5EF4-FFF2-40B4-BE49-F238E27FC236}">
                <a16:creationId xmlns:a16="http://schemas.microsoft.com/office/drawing/2014/main" id="{68E2EFA8-BD4A-46CF-9C0D-89155C92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12527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4" name="Google Shape;394;p12">
            <a:extLst xmlns:a="http://schemas.openxmlformats.org/drawingml/2006/main">
              <a:ext uri="{FF2B5EF4-FFF2-40B4-BE49-F238E27FC236}">
                <a16:creationId xmlns:a16="http://schemas.microsoft.com/office/drawing/2014/main" id="{64468AF3-B173-4D10-BB6B-E7564BC1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125272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95" name="Google Shape;395;p12">
            <a:extLst xmlns:a="http://schemas.openxmlformats.org/drawingml/2006/main">
              <a:ext uri="{FF2B5EF4-FFF2-40B4-BE49-F238E27FC236}">
                <a16:creationId xmlns:a16="http://schemas.microsoft.com/office/drawing/2014/main" id="{F37B696C-29CF-4FB0-8E23-65F6CBD9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8138160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5445E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6" name="Google Shape;396;p12">
            <a:extLst xmlns:a="http://schemas.openxmlformats.org/drawingml/2006/main">
              <a:ext uri="{FF2B5EF4-FFF2-40B4-BE49-F238E27FC236}">
                <a16:creationId xmlns:a16="http://schemas.microsoft.com/office/drawing/2014/main" id="{0788012F-4947-4353-9D14-172E043F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29000"/>
            <a:ext cx="7498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Alerts appear on the staff dashboard through lightweight polling, so clinic personnel can monitor incidents, coordinate response, and log actions taken in one place.</a:t>
            </a:r>
          </a:p>
        </p:txBody>
      </p:sp>
      <p:sp>
        <p:nvSpPr>
          <p:cNvPr id="397" name="Google Shape;397;p12">
            <a:extLst xmlns:a="http://schemas.openxmlformats.org/drawingml/2006/main">
              <a:ext uri="{FF2B5EF4-FFF2-40B4-BE49-F238E27FC236}">
                <a16:creationId xmlns:a16="http://schemas.microsoft.com/office/drawing/2014/main" id="{663DB34E-E649-4278-8BE4-030911D1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43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98" name="Google Shape;398;p12">
            <a:extLst xmlns:a="http://schemas.openxmlformats.org/drawingml/2006/main">
              <a:ext uri="{FF2B5EF4-FFF2-40B4-BE49-F238E27FC236}">
                <a16:creationId xmlns:a16="http://schemas.microsoft.com/office/drawing/2014/main" id="{8F71897B-0741-4893-8436-BCD48399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431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CLINiQ</a:t>
            </a:r>
          </a:p>
        </p:txBody>
      </p:sp>
    </p:spTree>
    <p:extLst>
      <p:ext uri="{BB962C8B-B14F-4D97-AF65-F5344CB8AC3E}">
        <p14:creationId xmlns:p14="http://schemas.microsoft.com/office/powerpoint/2010/main" val="19213443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4" name="Google Shape;404;p13">
            <a:extLst xmlns:a="http://schemas.openxmlformats.org/drawingml/2006/main">
              <a:ext uri="{FF2B5EF4-FFF2-40B4-BE49-F238E27FC236}">
                <a16:creationId xmlns:a16="http://schemas.microsoft.com/office/drawing/2014/main" id="{C99839B1-456D-47C2-B874-7AB7F5B6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78638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0B2E33"/>
                </a:solidFill>
                <a:latin typeface="Cambria"/>
                <a:ea typeface="Cambria"/>
                <a:cs typeface="Cambria"/>
              </a:rPr>
              <a:t>Live Demo Roadmap</a:t>
            </a:r>
          </a:p>
        </p:txBody>
      </p:sp>
      <p:sp>
        <p:nvSpPr>
          <p:cNvPr id="405" name="Google Shape;405;p13">
            <a:extLst xmlns:a="http://schemas.openxmlformats.org/drawingml/2006/main">
              <a:ext uri="{FF2B5EF4-FFF2-40B4-BE49-F238E27FC236}">
                <a16:creationId xmlns:a16="http://schemas.microsoft.com/office/drawing/2014/main" id="{B7384907-699B-4A3F-ADB5-DD3096E3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The focused workflow for the recorded presentation</a:t>
            </a:r>
          </a:p>
        </p:txBody>
      </p:sp>
      <p:sp>
        <p:nvSpPr>
          <p:cNvPr id="406" name="Google Shape;406;p13">
            <a:extLst xmlns:a="http://schemas.openxmlformats.org/drawingml/2006/main">
              <a:ext uri="{FF2B5EF4-FFF2-40B4-BE49-F238E27FC236}">
                <a16:creationId xmlns:a16="http://schemas.microsoft.com/office/drawing/2014/main" id="{F95479EB-9DAD-48FB-820F-16A91E15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260604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7" name="Google Shape;407;p13">
            <a:extLst xmlns:a="http://schemas.openxmlformats.org/drawingml/2006/main">
              <a:ext uri="{FF2B5EF4-FFF2-40B4-BE49-F238E27FC236}">
                <a16:creationId xmlns:a16="http://schemas.microsoft.com/office/drawing/2014/main" id="{509D53A6-A2F4-4CC0-8F21-7FA70B0F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61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8" name="Google Shape;408;p13">
            <a:extLst xmlns:a="http://schemas.openxmlformats.org/drawingml/2006/main">
              <a:ext uri="{FF2B5EF4-FFF2-40B4-BE49-F238E27FC236}">
                <a16:creationId xmlns:a16="http://schemas.microsoft.com/office/drawing/2014/main" id="{8EA353F1-1A22-4BBC-B207-5942B0B6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6192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409" name="Google Shape;409;p13">
            <a:extLst xmlns:a="http://schemas.openxmlformats.org/drawingml/2006/main">
              <a:ext uri="{FF2B5EF4-FFF2-40B4-BE49-F238E27FC236}">
                <a16:creationId xmlns:a16="http://schemas.microsoft.com/office/drawing/2014/main" id="{EC2398E6-5BA7-45DA-8BCE-0F1BAF0E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151790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476" name="Google Shape;410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07ee486e7f468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582814" y="1567830"/>
            <a:ext cx="284196" cy="2841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11" name="Google Shape;411;p13">
            <a:extLst xmlns:a="http://schemas.openxmlformats.org/drawingml/2006/main">
              <a:ext uri="{FF2B5EF4-FFF2-40B4-BE49-F238E27FC236}">
                <a16:creationId xmlns:a16="http://schemas.microsoft.com/office/drawing/2014/main" id="{15E57DAC-4383-408A-B8BB-49D692BC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3392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Student login/request</a:t>
            </a:r>
          </a:p>
        </p:txBody>
      </p:sp>
      <p:sp>
        <p:nvSpPr>
          <p:cNvPr id="412" name="Google Shape;412;p13">
            <a:extLst xmlns:a="http://schemas.openxmlformats.org/drawingml/2006/main">
              <a:ext uri="{FF2B5EF4-FFF2-40B4-BE49-F238E27FC236}">
                <a16:creationId xmlns:a16="http://schemas.microsoft.com/office/drawing/2014/main" id="{7E14C7AD-5804-4795-ACAB-DD490060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371600"/>
            <a:ext cx="260604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3" name="Google Shape;413;p13">
            <a:extLst xmlns:a="http://schemas.openxmlformats.org/drawingml/2006/main">
              <a:ext uri="{FF2B5EF4-FFF2-40B4-BE49-F238E27FC236}">
                <a16:creationId xmlns:a16="http://schemas.microsoft.com/office/drawing/2014/main" id="{2EE52A19-4E5D-409E-8D94-EC44B39C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5361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4" name="Google Shape;414;p13">
            <a:extLst xmlns:a="http://schemas.openxmlformats.org/drawingml/2006/main">
              <a:ext uri="{FF2B5EF4-FFF2-40B4-BE49-F238E27FC236}">
                <a16:creationId xmlns:a16="http://schemas.microsoft.com/office/drawing/2014/main" id="{B0C6221A-0D3E-4762-AAC0-3C566575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536192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415" name="Google Shape;415;p13">
            <a:extLst xmlns:a="http://schemas.openxmlformats.org/drawingml/2006/main">
              <a:ext uri="{FF2B5EF4-FFF2-40B4-BE49-F238E27FC236}">
                <a16:creationId xmlns:a16="http://schemas.microsoft.com/office/drawing/2014/main" id="{FF7AE492-55D5-4094-9858-E18BCA37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51790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482" name="Google Shape;416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27a13dd0fb43f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53446" y="1567830"/>
            <a:ext cx="284196" cy="2841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17" name="Google Shape;417;p13">
            <a:extLst xmlns:a="http://schemas.openxmlformats.org/drawingml/2006/main">
              <a:ext uri="{FF2B5EF4-FFF2-40B4-BE49-F238E27FC236}">
                <a16:creationId xmlns:a16="http://schemas.microsoft.com/office/drawing/2014/main" id="{D3818146-FB68-45B8-B225-AC013F62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93392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Staff dashboard</a:t>
            </a:r>
          </a:p>
        </p:txBody>
      </p:sp>
      <p:sp>
        <p:nvSpPr>
          <p:cNvPr id="418" name="Google Shape;418;p13">
            <a:extLst xmlns:a="http://schemas.openxmlformats.org/drawingml/2006/main">
              <a:ext uri="{FF2B5EF4-FFF2-40B4-BE49-F238E27FC236}">
                <a16:creationId xmlns:a16="http://schemas.microsoft.com/office/drawing/2014/main" id="{91B2838D-A528-4593-9354-4E12B4CA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1371600"/>
            <a:ext cx="260604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9" name="Google Shape;419;p13">
            <a:extLst xmlns:a="http://schemas.openxmlformats.org/drawingml/2006/main">
              <a:ext uri="{FF2B5EF4-FFF2-40B4-BE49-F238E27FC236}">
                <a16:creationId xmlns:a16="http://schemas.microsoft.com/office/drawing/2014/main" id="{7262A5D7-7102-4C8B-9F6A-7AC191DD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5361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0" name="Google Shape;420;p13">
            <a:extLst xmlns:a="http://schemas.openxmlformats.org/drawingml/2006/main">
              <a:ext uri="{FF2B5EF4-FFF2-40B4-BE49-F238E27FC236}">
                <a16:creationId xmlns:a16="http://schemas.microsoft.com/office/drawing/2014/main" id="{F5A6E586-1F70-42C1-9FDC-ED5A2170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536192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421" name="Google Shape;421;p13">
            <a:extLst xmlns:a="http://schemas.openxmlformats.org/drawingml/2006/main">
              <a:ext uri="{FF2B5EF4-FFF2-40B4-BE49-F238E27FC236}">
                <a16:creationId xmlns:a16="http://schemas.microsoft.com/office/drawing/2014/main" id="{3E508CFE-D549-43FC-BED1-620D8E2C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51790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488" name="Google Shape;422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e0340fa594452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24078" y="1567830"/>
            <a:ext cx="284196" cy="2841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23" name="Google Shape;423;p13">
            <a:extLst xmlns:a="http://schemas.openxmlformats.org/drawingml/2006/main">
              <a:ext uri="{FF2B5EF4-FFF2-40B4-BE49-F238E27FC236}">
                <a16:creationId xmlns:a16="http://schemas.microsoft.com/office/drawing/2014/main" id="{9A7F145B-CA2B-4779-A66E-B202F502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993392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Approve appointment</a:t>
            </a:r>
          </a:p>
        </p:txBody>
      </p:sp>
      <p:sp>
        <p:nvSpPr>
          <p:cNvPr id="424" name="Google Shape;424;p13">
            <a:extLst xmlns:a="http://schemas.openxmlformats.org/drawingml/2006/main">
              <a:ext uri="{FF2B5EF4-FFF2-40B4-BE49-F238E27FC236}">
                <a16:creationId xmlns:a16="http://schemas.microsoft.com/office/drawing/2014/main" id="{7C614D37-3A4A-47B5-B49E-ECC5AC1E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79192"/>
            <a:ext cx="260604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5" name="Google Shape;425;p13">
            <a:extLst xmlns:a="http://schemas.openxmlformats.org/drawingml/2006/main">
              <a:ext uri="{FF2B5EF4-FFF2-40B4-BE49-F238E27FC236}">
                <a16:creationId xmlns:a16="http://schemas.microsoft.com/office/drawing/2014/main" id="{121BA90A-260A-4A96-BCF3-EB14CAFF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3784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6" name="Google Shape;426;p13">
            <a:extLst xmlns:a="http://schemas.openxmlformats.org/drawingml/2006/main">
              <a:ext uri="{FF2B5EF4-FFF2-40B4-BE49-F238E27FC236}">
                <a16:creationId xmlns:a16="http://schemas.microsoft.com/office/drawing/2014/main" id="{A6724FDE-411D-4661-84B8-95C306A4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3784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427" name="Google Shape;427;p13">
            <a:extLst xmlns:a="http://schemas.openxmlformats.org/drawingml/2006/main">
              <a:ext uri="{FF2B5EF4-FFF2-40B4-BE49-F238E27FC236}">
                <a16:creationId xmlns:a16="http://schemas.microsoft.com/office/drawing/2014/main" id="{1B878D99-B083-4087-A1CE-F64309D3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28254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494" name="Google Shape;42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45930582e943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582814" y="2875422"/>
            <a:ext cx="284196" cy="2841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29" name="Google Shape;429;p13">
            <a:extLst xmlns:a="http://schemas.openxmlformats.org/drawingml/2006/main">
              <a:ext uri="{FF2B5EF4-FFF2-40B4-BE49-F238E27FC236}">
                <a16:creationId xmlns:a16="http://schemas.microsoft.com/office/drawing/2014/main" id="{FE98FBB8-C0CD-4BBA-822D-BD5C0844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0984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Record clinic visit</a:t>
            </a:r>
          </a:p>
        </p:txBody>
      </p:sp>
      <p:sp>
        <p:nvSpPr>
          <p:cNvPr id="430" name="Google Shape;430;p13">
            <a:extLst xmlns:a="http://schemas.openxmlformats.org/drawingml/2006/main">
              <a:ext uri="{FF2B5EF4-FFF2-40B4-BE49-F238E27FC236}">
                <a16:creationId xmlns:a16="http://schemas.microsoft.com/office/drawing/2014/main" id="{0454E83E-9F22-4185-A139-7B3D85F5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679192"/>
            <a:ext cx="260604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1" name="Google Shape;431;p13">
            <a:extLst xmlns:a="http://schemas.openxmlformats.org/drawingml/2006/main">
              <a:ext uri="{FF2B5EF4-FFF2-40B4-BE49-F238E27FC236}">
                <a16:creationId xmlns:a16="http://schemas.microsoft.com/office/drawing/2014/main" id="{8A8B13CE-B345-4644-A7DE-78F4F63E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843784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2" name="Google Shape;432;p13">
            <a:extLst xmlns:a="http://schemas.openxmlformats.org/drawingml/2006/main">
              <a:ext uri="{FF2B5EF4-FFF2-40B4-BE49-F238E27FC236}">
                <a16:creationId xmlns:a16="http://schemas.microsoft.com/office/drawing/2014/main" id="{1D729896-CC35-4BDD-A65A-71712F04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843784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433" name="Google Shape;433;p13">
            <a:extLst xmlns:a="http://schemas.openxmlformats.org/drawingml/2006/main">
              <a:ext uri="{FF2B5EF4-FFF2-40B4-BE49-F238E27FC236}">
                <a16:creationId xmlns:a16="http://schemas.microsoft.com/office/drawing/2014/main" id="{49383041-131B-4D72-B5B8-68A66359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8254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500" name="Google Shape;434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bbfe6942e104be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53446" y="2875422"/>
            <a:ext cx="284196" cy="2841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5" name="Google Shape;435;p13">
            <a:extLst xmlns:a="http://schemas.openxmlformats.org/drawingml/2006/main">
              <a:ext uri="{FF2B5EF4-FFF2-40B4-BE49-F238E27FC236}">
                <a16:creationId xmlns:a16="http://schemas.microsoft.com/office/drawing/2014/main" id="{C6CC24B1-B646-4B38-AFC1-9A435204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3300984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Risk classification</a:t>
            </a:r>
          </a:p>
        </p:txBody>
      </p:sp>
      <p:sp>
        <p:nvSpPr>
          <p:cNvPr id="436" name="Google Shape;436;p13">
            <a:extLst xmlns:a="http://schemas.openxmlformats.org/drawingml/2006/main">
              <a:ext uri="{FF2B5EF4-FFF2-40B4-BE49-F238E27FC236}">
                <a16:creationId xmlns:a16="http://schemas.microsoft.com/office/drawing/2014/main" id="{6E17E8F9-D866-4134-A4EE-5EBDA8BF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2679192"/>
            <a:ext cx="260604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7" name="Google Shape;437;p13">
            <a:extLst xmlns:a="http://schemas.openxmlformats.org/drawingml/2006/main">
              <a:ext uri="{FF2B5EF4-FFF2-40B4-BE49-F238E27FC236}">
                <a16:creationId xmlns:a16="http://schemas.microsoft.com/office/drawing/2014/main" id="{BB217D77-C891-4A8E-98F7-056691FB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843784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8" name="Google Shape;438;p13">
            <a:extLst xmlns:a="http://schemas.openxmlformats.org/drawingml/2006/main">
              <a:ext uri="{FF2B5EF4-FFF2-40B4-BE49-F238E27FC236}">
                <a16:creationId xmlns:a16="http://schemas.microsoft.com/office/drawing/2014/main" id="{9A1A77C3-7F0A-4A26-85D8-F337A460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843784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439" name="Google Shape;439;p13">
            <a:extLst xmlns:a="http://schemas.openxmlformats.org/drawingml/2006/main">
              <a:ext uri="{FF2B5EF4-FFF2-40B4-BE49-F238E27FC236}">
                <a16:creationId xmlns:a16="http://schemas.microsoft.com/office/drawing/2014/main" id="{BF77FA4E-4C4C-4BB2-A4AD-CAEF59AA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28254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506" name="Google Shape;440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f57c9590f34dc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24078" y="2875422"/>
            <a:ext cx="284196" cy="2841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13">
            <a:extLst xmlns:a="http://schemas.openxmlformats.org/drawingml/2006/main">
              <a:ext uri="{FF2B5EF4-FFF2-40B4-BE49-F238E27FC236}">
                <a16:creationId xmlns:a16="http://schemas.microsoft.com/office/drawing/2014/main" id="{B831E73A-34D1-47E1-BBF5-373A3E17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300984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Patient profile</a:t>
            </a:r>
          </a:p>
        </p:txBody>
      </p:sp>
      <p:sp>
        <p:nvSpPr>
          <p:cNvPr id="442" name="Google Shape;442;p13">
            <a:extLst xmlns:a="http://schemas.openxmlformats.org/drawingml/2006/main">
              <a:ext uri="{FF2B5EF4-FFF2-40B4-BE49-F238E27FC236}">
                <a16:creationId xmlns:a16="http://schemas.microsoft.com/office/drawing/2014/main" id="{889065DE-BFEA-459E-8435-846CEAE5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86784"/>
            <a:ext cx="260604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43" name="Google Shape;443;p13">
            <a:extLst xmlns:a="http://schemas.openxmlformats.org/drawingml/2006/main">
              <a:ext uri="{FF2B5EF4-FFF2-40B4-BE49-F238E27FC236}">
                <a16:creationId xmlns:a16="http://schemas.microsoft.com/office/drawing/2014/main" id="{D9C4E2AB-640F-4076-B1FA-DEF57D4B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137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44" name="Google Shape;444;p13">
            <a:extLst xmlns:a="http://schemas.openxmlformats.org/drawingml/2006/main">
              <a:ext uri="{FF2B5EF4-FFF2-40B4-BE49-F238E27FC236}">
                <a16:creationId xmlns:a16="http://schemas.microsoft.com/office/drawing/2014/main" id="{C3B391C5-05AC-48DA-B9A5-085BE4EF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1376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7</a:t>
            </a:r>
          </a:p>
        </p:txBody>
      </p:sp>
      <p:sp>
        <p:nvSpPr>
          <p:cNvPr id="445" name="Google Shape;445;p13">
            <a:extLst xmlns:a="http://schemas.openxmlformats.org/drawingml/2006/main">
              <a:ext uri="{FF2B5EF4-FFF2-40B4-BE49-F238E27FC236}">
                <a16:creationId xmlns:a16="http://schemas.microsoft.com/office/drawing/2014/main" id="{03937AE2-1F9C-4A8A-82F1-94B07A3A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4133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512" name="Google Shape;446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31731d0d444f5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582814" y="4183014"/>
            <a:ext cx="284196" cy="2841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7" name="Google Shape;447;p13">
            <a:extLst xmlns:a="http://schemas.openxmlformats.org/drawingml/2006/main">
              <a:ext uri="{FF2B5EF4-FFF2-40B4-BE49-F238E27FC236}">
                <a16:creationId xmlns:a16="http://schemas.microsoft.com/office/drawing/2014/main" id="{28F07B30-1083-4496-A494-0FECBFC5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8576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Passport incident</a:t>
            </a:r>
          </a:p>
        </p:txBody>
      </p:sp>
      <p:sp>
        <p:nvSpPr>
          <p:cNvPr id="448" name="Google Shape;448;p13">
            <a:extLst xmlns:a="http://schemas.openxmlformats.org/drawingml/2006/main">
              <a:ext uri="{FF2B5EF4-FFF2-40B4-BE49-F238E27FC236}">
                <a16:creationId xmlns:a16="http://schemas.microsoft.com/office/drawing/2014/main" id="{89B57179-7D70-4F13-BE1D-AA5842AC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3986784"/>
            <a:ext cx="260604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49" name="Google Shape;449;p13">
            <a:extLst xmlns:a="http://schemas.openxmlformats.org/drawingml/2006/main">
              <a:ext uri="{FF2B5EF4-FFF2-40B4-BE49-F238E27FC236}">
                <a16:creationId xmlns:a16="http://schemas.microsoft.com/office/drawing/2014/main" id="{CDF770A1-A612-4D4C-85B9-04A326BD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415137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0" name="Google Shape;450;p13">
            <a:extLst xmlns:a="http://schemas.openxmlformats.org/drawingml/2006/main">
              <a:ext uri="{FF2B5EF4-FFF2-40B4-BE49-F238E27FC236}">
                <a16:creationId xmlns:a16="http://schemas.microsoft.com/office/drawing/2014/main" id="{849E62F6-EF69-4C05-8C52-9B747DA7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4151376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8</a:t>
            </a:r>
          </a:p>
        </p:txBody>
      </p:sp>
      <p:sp>
        <p:nvSpPr>
          <p:cNvPr id="451" name="Google Shape;451;p13">
            <a:extLst xmlns:a="http://schemas.openxmlformats.org/drawingml/2006/main">
              <a:ext uri="{FF2B5EF4-FFF2-40B4-BE49-F238E27FC236}">
                <a16:creationId xmlns:a16="http://schemas.microsoft.com/office/drawing/2014/main" id="{5DF14A58-2957-42D1-8F06-E9C87D48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133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518" name="Google Shape;452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a0c648d4104d2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53446" y="4183014"/>
            <a:ext cx="284196" cy="2841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53" name="Google Shape;453;p13">
            <a:extLst xmlns:a="http://schemas.openxmlformats.org/drawingml/2006/main">
              <a:ext uri="{FF2B5EF4-FFF2-40B4-BE49-F238E27FC236}">
                <a16:creationId xmlns:a16="http://schemas.microsoft.com/office/drawing/2014/main" id="{8D181944-96CB-4784-B8C4-5200913F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4608576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Nurse alert response</a:t>
            </a:r>
          </a:p>
        </p:txBody>
      </p:sp>
      <p:sp>
        <p:nvSpPr>
          <p:cNvPr id="454" name="Google Shape;454;p13">
            <a:extLst xmlns:a="http://schemas.openxmlformats.org/drawingml/2006/main">
              <a:ext uri="{FF2B5EF4-FFF2-40B4-BE49-F238E27FC236}">
                <a16:creationId xmlns:a16="http://schemas.microsoft.com/office/drawing/2014/main" id="{F702392C-17D5-49CA-8389-19550C44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3986784"/>
            <a:ext cx="260604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5" name="Google Shape;455;p13">
            <a:extLst xmlns:a="http://schemas.openxmlformats.org/drawingml/2006/main">
              <a:ext uri="{FF2B5EF4-FFF2-40B4-BE49-F238E27FC236}">
                <a16:creationId xmlns:a16="http://schemas.microsoft.com/office/drawing/2014/main" id="{670845FC-8E55-4A81-AE4C-9158C13B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15137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6" name="Google Shape;456;p13">
            <a:extLst xmlns:a="http://schemas.openxmlformats.org/drawingml/2006/main">
              <a:ext uri="{FF2B5EF4-FFF2-40B4-BE49-F238E27FC236}">
                <a16:creationId xmlns:a16="http://schemas.microsoft.com/office/drawing/2014/main" id="{8B74C5E1-5A10-4F69-80E4-2B958E7A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151376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9</a:t>
            </a:r>
          </a:p>
        </p:txBody>
      </p:sp>
      <p:sp>
        <p:nvSpPr>
          <p:cNvPr id="457" name="Google Shape;457;p13">
            <a:extLst xmlns:a="http://schemas.openxmlformats.org/drawingml/2006/main">
              <a:ext uri="{FF2B5EF4-FFF2-40B4-BE49-F238E27FC236}">
                <a16:creationId xmlns:a16="http://schemas.microsoft.com/office/drawing/2014/main" id="{B1C8AD9B-D9C6-4F93-B27B-36EE74B5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4133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524" name="Google Shape;45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01afca0ea4480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24078" y="4183014"/>
            <a:ext cx="284196" cy="2841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59" name="Google Shape;459;p13">
            <a:extLst xmlns:a="http://schemas.openxmlformats.org/drawingml/2006/main">
              <a:ext uri="{FF2B5EF4-FFF2-40B4-BE49-F238E27FC236}">
                <a16:creationId xmlns:a16="http://schemas.microsoft.com/office/drawing/2014/main" id="{E1C1075F-4387-47D6-9907-94EEA6B6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608576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APE / Reports</a:t>
            </a:r>
          </a:p>
        </p:txBody>
      </p:sp>
      <p:sp>
        <p:nvSpPr>
          <p:cNvPr id="460" name="Google Shape;460;p13">
            <a:extLst xmlns:a="http://schemas.openxmlformats.org/drawingml/2006/main">
              <a:ext uri="{FF2B5EF4-FFF2-40B4-BE49-F238E27FC236}">
                <a16:creationId xmlns:a16="http://schemas.microsoft.com/office/drawing/2014/main" id="{B628974A-9968-4A49-8C5D-CA965465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43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420914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6" name="Google Shape;466;p14">
            <a:extLst xmlns:a="http://schemas.openxmlformats.org/drawingml/2006/main">
              <a:ext uri="{FF2B5EF4-FFF2-40B4-BE49-F238E27FC236}">
                <a16:creationId xmlns:a16="http://schemas.microsoft.com/office/drawing/2014/main" id="{730F9951-4272-4EAD-AFD1-5D8DA0B2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78638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0B2E33"/>
                </a:solidFill>
                <a:latin typeface="Cambria"/>
                <a:ea typeface="Cambria"/>
                <a:cs typeface="Cambria"/>
              </a:rPr>
              <a:t>Current Status &amp; Next Improvements</a:t>
            </a:r>
          </a:p>
        </p:txBody>
      </p:sp>
      <p:sp>
        <p:nvSpPr>
          <p:cNvPr id="467" name="Google Shape;467;p14">
            <a:extLst xmlns:a="http://schemas.openxmlformats.org/drawingml/2006/main">
              <a:ext uri="{FF2B5EF4-FFF2-40B4-BE49-F238E27FC236}">
                <a16:creationId xmlns:a16="http://schemas.microsoft.com/office/drawing/2014/main" id="{6D3FE27C-8BD0-4F7A-8BCA-F7BF6527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What is working now, and what should be strengthened next</a:t>
            </a:r>
          </a:p>
        </p:txBody>
      </p:sp>
      <p:sp>
        <p:nvSpPr>
          <p:cNvPr id="468" name="Google Shape;468;p14">
            <a:extLst xmlns:a="http://schemas.openxmlformats.org/drawingml/2006/main">
              <a:ext uri="{FF2B5EF4-FFF2-40B4-BE49-F238E27FC236}">
                <a16:creationId xmlns:a16="http://schemas.microsoft.com/office/drawing/2014/main" id="{05FA9ED5-E033-4901-A72B-CCDCF3E5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260604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9" name="Google Shape;469;p14">
            <a:extLst xmlns:a="http://schemas.openxmlformats.org/drawingml/2006/main">
              <a:ext uri="{FF2B5EF4-FFF2-40B4-BE49-F238E27FC236}">
                <a16:creationId xmlns:a16="http://schemas.microsoft.com/office/drawing/2014/main" id="{84BF119C-6A94-4E80-959A-DE26AD9E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459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518" name="Google Shape;470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1cad8365544e3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8612" y="1711300"/>
            <a:ext cx="372161" cy="37216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1" name="Google Shape;471;p14">
            <a:extLst xmlns:a="http://schemas.openxmlformats.org/drawingml/2006/main">
              <a:ext uri="{FF2B5EF4-FFF2-40B4-BE49-F238E27FC236}">
                <a16:creationId xmlns:a16="http://schemas.microsoft.com/office/drawing/2014/main" id="{0FBB7281-3B08-458E-BC4C-4ED20169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71600"/>
            <a:ext cx="1645920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Working Staff Portal</a:t>
            </a:r>
          </a:p>
        </p:txBody>
      </p:sp>
      <p:sp>
        <p:nvSpPr>
          <p:cNvPr id="472" name="Google Shape;472;p14">
            <a:extLst xmlns:a="http://schemas.openxmlformats.org/drawingml/2006/main">
              <a:ext uri="{FF2B5EF4-FFF2-40B4-BE49-F238E27FC236}">
                <a16:creationId xmlns:a16="http://schemas.microsoft.com/office/drawing/2014/main" id="{3D2BF4C9-C543-4AFE-B59E-D10ECC04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371600"/>
            <a:ext cx="260604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3" name="Google Shape;473;p14">
            <a:extLst xmlns:a="http://schemas.openxmlformats.org/drawingml/2006/main">
              <a:ext uri="{FF2B5EF4-FFF2-40B4-BE49-F238E27FC236}">
                <a16:creationId xmlns:a16="http://schemas.microsoft.com/office/drawing/2014/main" id="{24FD9FD6-A1DE-4AD2-A272-AB576073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16459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522" name="Google Shape;474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ffdfc2b6691485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549244" y="1711300"/>
            <a:ext cx="372161" cy="37216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5" name="Google Shape;475;p14">
            <a:extLst xmlns:a="http://schemas.openxmlformats.org/drawingml/2006/main">
              <a:ext uri="{FF2B5EF4-FFF2-40B4-BE49-F238E27FC236}">
                <a16:creationId xmlns:a16="http://schemas.microsoft.com/office/drawing/2014/main" id="{89BDD814-4B66-41CD-A136-C708D3C6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371600"/>
            <a:ext cx="1645920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Student Portal</a:t>
            </a:r>
          </a:p>
        </p:txBody>
      </p:sp>
      <p:sp>
        <p:nvSpPr>
          <p:cNvPr id="476" name="Google Shape;476;p14">
            <a:extLst xmlns:a="http://schemas.openxmlformats.org/drawingml/2006/main">
              <a:ext uri="{FF2B5EF4-FFF2-40B4-BE49-F238E27FC236}">
                <a16:creationId xmlns:a16="http://schemas.microsoft.com/office/drawing/2014/main" id="{066975B4-6255-4F00-9B92-B94A625C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1371600"/>
            <a:ext cx="260604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7" name="Google Shape;477;p14">
            <a:extLst xmlns:a="http://schemas.openxmlformats.org/drawingml/2006/main">
              <a:ext uri="{FF2B5EF4-FFF2-40B4-BE49-F238E27FC236}">
                <a16:creationId xmlns:a16="http://schemas.microsoft.com/office/drawing/2014/main" id="{294DAED0-4CAF-4393-B9CF-00A29371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6459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526" name="Google Shape;478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cacfff956d47f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19876" y="1711300"/>
            <a:ext cx="372161" cy="37216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9" name="Google Shape;479;p14">
            <a:extLst xmlns:a="http://schemas.openxmlformats.org/drawingml/2006/main">
              <a:ext uri="{FF2B5EF4-FFF2-40B4-BE49-F238E27FC236}">
                <a16:creationId xmlns:a16="http://schemas.microsoft.com/office/drawing/2014/main" id="{7C7F02E1-209D-42FD-A0FC-55B1F7B3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1371600"/>
            <a:ext cx="1645920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Patient Profile</a:t>
            </a:r>
          </a:p>
        </p:txBody>
      </p:sp>
      <p:sp>
        <p:nvSpPr>
          <p:cNvPr id="480" name="Google Shape;480;p14">
            <a:extLst xmlns:a="http://schemas.openxmlformats.org/drawingml/2006/main">
              <a:ext uri="{FF2B5EF4-FFF2-40B4-BE49-F238E27FC236}">
                <a16:creationId xmlns:a16="http://schemas.microsoft.com/office/drawing/2014/main" id="{EC4549E1-3215-4E4F-8412-04BC621F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87752"/>
            <a:ext cx="260604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81" name="Google Shape;481;p14">
            <a:extLst xmlns:a="http://schemas.openxmlformats.org/drawingml/2006/main">
              <a:ext uri="{FF2B5EF4-FFF2-40B4-BE49-F238E27FC236}">
                <a16:creationId xmlns:a16="http://schemas.microsoft.com/office/drawing/2014/main" id="{0D830705-6C3B-4953-BB1E-79BEF92B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86207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530" name="Google Shape;482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c5d57c0c9943d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8612" y="2927452"/>
            <a:ext cx="372161" cy="37216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83" name="Google Shape;483;p14">
            <a:extLst xmlns:a="http://schemas.openxmlformats.org/drawingml/2006/main">
              <a:ext uri="{FF2B5EF4-FFF2-40B4-BE49-F238E27FC236}">
                <a16:creationId xmlns:a16="http://schemas.microsoft.com/office/drawing/2014/main" id="{05EB0835-101E-47F8-ABD0-C985B7D2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87752"/>
            <a:ext cx="1645920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APE Tracking</a:t>
            </a:r>
          </a:p>
        </p:txBody>
      </p:sp>
      <p:sp>
        <p:nvSpPr>
          <p:cNvPr id="484" name="Google Shape;484;p14">
            <a:extLst xmlns:a="http://schemas.openxmlformats.org/drawingml/2006/main">
              <a:ext uri="{FF2B5EF4-FFF2-40B4-BE49-F238E27FC236}">
                <a16:creationId xmlns:a16="http://schemas.microsoft.com/office/drawing/2014/main" id="{1C51C92A-45A6-4CD6-9826-CC9701F7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587752"/>
            <a:ext cx="260604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85" name="Google Shape;485;p14">
            <a:extLst xmlns:a="http://schemas.openxmlformats.org/drawingml/2006/main">
              <a:ext uri="{FF2B5EF4-FFF2-40B4-BE49-F238E27FC236}">
                <a16:creationId xmlns:a16="http://schemas.microsoft.com/office/drawing/2014/main" id="{B2C5E4A8-159A-487C-8E5A-AE579A07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286207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534" name="Google Shape;486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10bd0346458467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549244" y="2927452"/>
            <a:ext cx="372161" cy="37216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87" name="Google Shape;487;p14">
            <a:extLst xmlns:a="http://schemas.openxmlformats.org/drawingml/2006/main">
              <a:ext uri="{FF2B5EF4-FFF2-40B4-BE49-F238E27FC236}">
                <a16:creationId xmlns:a16="http://schemas.microsoft.com/office/drawing/2014/main" id="{94991E43-CD00-40C9-B0FF-29A9118C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587752"/>
            <a:ext cx="1645920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Role Restrictions</a:t>
            </a:r>
          </a:p>
        </p:txBody>
      </p:sp>
      <p:sp>
        <p:nvSpPr>
          <p:cNvPr id="488" name="Google Shape;488;p14">
            <a:extLst xmlns:a="http://schemas.openxmlformats.org/drawingml/2006/main">
              <a:ext uri="{FF2B5EF4-FFF2-40B4-BE49-F238E27FC236}">
                <a16:creationId xmlns:a16="http://schemas.microsoft.com/office/drawing/2014/main" id="{40843360-EF96-4067-BC15-50DFC3EC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2587752"/>
            <a:ext cx="260604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89" name="Google Shape;489;p14">
            <a:extLst xmlns:a="http://schemas.openxmlformats.org/drawingml/2006/main">
              <a:ext uri="{FF2B5EF4-FFF2-40B4-BE49-F238E27FC236}">
                <a16:creationId xmlns:a16="http://schemas.microsoft.com/office/drawing/2014/main" id="{34FF59ED-FCC5-435E-B9DB-7ABB4FE5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286207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538" name="Google Shape;490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92472dca8649c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19876" y="2927452"/>
            <a:ext cx="372161" cy="37216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91" name="Google Shape;491;p14">
            <a:extLst xmlns:a="http://schemas.openxmlformats.org/drawingml/2006/main">
              <a:ext uri="{FF2B5EF4-FFF2-40B4-BE49-F238E27FC236}">
                <a16:creationId xmlns:a16="http://schemas.microsoft.com/office/drawing/2014/main" id="{773C472A-ED2E-40E2-A486-052D50DB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2587752"/>
            <a:ext cx="1645920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Secure File Upload</a:t>
            </a:r>
          </a:p>
        </p:txBody>
      </p:sp>
      <p:sp>
        <p:nvSpPr>
          <p:cNvPr id="492" name="Google Shape;492;p14">
            <a:extLst xmlns:a="http://schemas.openxmlformats.org/drawingml/2006/main">
              <a:ext uri="{FF2B5EF4-FFF2-40B4-BE49-F238E27FC236}">
                <a16:creationId xmlns:a16="http://schemas.microsoft.com/office/drawing/2014/main" id="{827C479C-BAD5-42EB-9F3F-8A3A84B3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03904"/>
            <a:ext cx="260604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93" name="Google Shape;493;p14">
            <a:extLst xmlns:a="http://schemas.openxmlformats.org/drawingml/2006/main">
              <a:ext uri="{FF2B5EF4-FFF2-40B4-BE49-F238E27FC236}">
                <a16:creationId xmlns:a16="http://schemas.microsoft.com/office/drawing/2014/main" id="{E708C7B3-1768-489E-90A0-A635D8DB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78224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542" name="Google Shape;494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e0b145bf854466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8612" y="4143604"/>
            <a:ext cx="372161" cy="37216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95" name="Google Shape;495;p14">
            <a:extLst xmlns:a="http://schemas.openxmlformats.org/drawingml/2006/main">
              <a:ext uri="{FF2B5EF4-FFF2-40B4-BE49-F238E27FC236}">
                <a16:creationId xmlns:a16="http://schemas.microsoft.com/office/drawing/2014/main" id="{FD81753F-A255-4994-9A81-D7F4DC68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03904"/>
            <a:ext cx="1645920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QR/NFC Production</a:t>
            </a:r>
          </a:p>
        </p:txBody>
      </p:sp>
      <p:sp>
        <p:nvSpPr>
          <p:cNvPr id="496" name="Google Shape;496;p14">
            <a:extLst xmlns:a="http://schemas.openxmlformats.org/drawingml/2006/main">
              <a:ext uri="{FF2B5EF4-FFF2-40B4-BE49-F238E27FC236}">
                <a16:creationId xmlns:a16="http://schemas.microsoft.com/office/drawing/2014/main" id="{4DF8C21A-542A-4797-B267-46C0EB49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3803904"/>
            <a:ext cx="260604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97" name="Google Shape;497;p14">
            <a:extLst xmlns:a="http://schemas.openxmlformats.org/drawingml/2006/main">
              <a:ext uri="{FF2B5EF4-FFF2-40B4-BE49-F238E27FC236}">
                <a16:creationId xmlns:a16="http://schemas.microsoft.com/office/drawing/2014/main" id="{F212E2B2-F1D2-4FE0-91E6-09917BC2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4078224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546" name="Google Shape;498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496d15e340417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549244" y="4143604"/>
            <a:ext cx="372161" cy="37216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99" name="Google Shape;499;p14">
            <a:extLst xmlns:a="http://schemas.openxmlformats.org/drawingml/2006/main">
              <a:ext uri="{FF2B5EF4-FFF2-40B4-BE49-F238E27FC236}">
                <a16:creationId xmlns:a16="http://schemas.microsoft.com/office/drawing/2014/main" id="{DEDFD66D-3A48-4C16-9A46-865C53B1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803904"/>
            <a:ext cx="1645920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SMS/Email Alerts</a:t>
            </a:r>
          </a:p>
        </p:txBody>
      </p:sp>
      <p:sp>
        <p:nvSpPr>
          <p:cNvPr id="500" name="Google Shape;500;p14">
            <a:extLst xmlns:a="http://schemas.openxmlformats.org/drawingml/2006/main">
              <a:ext uri="{FF2B5EF4-FFF2-40B4-BE49-F238E27FC236}">
                <a16:creationId xmlns:a16="http://schemas.microsoft.com/office/drawing/2014/main" id="{33CBED4B-580C-46A1-B259-6152B535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3803904"/>
            <a:ext cx="260604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38100" dir="5400000" algn="bl" rotWithShape="0">
              <a:srgbClr val="000000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01" name="Google Shape;501;p14">
            <a:extLst xmlns:a="http://schemas.openxmlformats.org/drawingml/2006/main">
              <a:ext uri="{FF2B5EF4-FFF2-40B4-BE49-F238E27FC236}">
                <a16:creationId xmlns:a16="http://schemas.microsoft.com/office/drawing/2014/main" id="{41527B95-9E1C-45A9-B333-22C79F92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4078224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5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550" name="Google Shape;502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26f5bc1b831449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19876" y="4143604"/>
            <a:ext cx="372161" cy="37216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03" name="Google Shape;503;p14">
            <a:extLst xmlns:a="http://schemas.openxmlformats.org/drawingml/2006/main">
              <a:ext uri="{FF2B5EF4-FFF2-40B4-BE49-F238E27FC236}">
                <a16:creationId xmlns:a16="http://schemas.microsoft.com/office/drawing/2014/main" id="{90C16D85-49D0-4CE9-889F-70020BC7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3803904"/>
            <a:ext cx="1645920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B2E33"/>
                </a:solidFill>
                <a:latin typeface="Calibri"/>
                <a:ea typeface="Calibri"/>
                <a:cs typeface="Calibri"/>
              </a:rPr>
              <a:t>Reports Expansion</a:t>
            </a:r>
          </a:p>
        </p:txBody>
      </p:sp>
      <p:sp>
        <p:nvSpPr>
          <p:cNvPr id="504" name="Google Shape;504;p14">
            <a:extLst xmlns:a="http://schemas.openxmlformats.org/drawingml/2006/main">
              <a:ext uri="{FF2B5EF4-FFF2-40B4-BE49-F238E27FC236}">
                <a16:creationId xmlns:a16="http://schemas.microsoft.com/office/drawing/2014/main" id="{B909BB64-AD87-4A1F-B6AD-42C7ADAE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43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28960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445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0" name="Google Shape;510;p15">
            <a:extLst xmlns:a="http://schemas.openxmlformats.org/drawingml/2006/main">
              <a:ext uri="{FF2B5EF4-FFF2-40B4-BE49-F238E27FC236}">
                <a16:creationId xmlns:a16="http://schemas.microsoft.com/office/drawing/2014/main" id="{B95E2532-BBDF-48BA-810A-FDEC7F21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-1097280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>
              <a:alpha val="2196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1" name="Google Shape;511;p15">
            <a:extLst xmlns:a="http://schemas.openxmlformats.org/drawingml/2006/main">
              <a:ext uri="{FF2B5EF4-FFF2-40B4-BE49-F238E27FC236}">
                <a16:creationId xmlns:a16="http://schemas.microsoft.com/office/drawing/2014/main" id="{1541E70F-F92C-4787-8F37-79F7509B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7724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Conclusion</a:t>
            </a:r>
          </a:p>
        </p:txBody>
      </p:sp>
      <p:sp>
        <p:nvSpPr>
          <p:cNvPr id="512" name="Google Shape;512;p15">
            <a:extLst xmlns:a="http://schemas.openxmlformats.org/drawingml/2006/main">
              <a:ext uri="{FF2B5EF4-FFF2-40B4-BE49-F238E27FC236}">
                <a16:creationId xmlns:a16="http://schemas.microsoft.com/office/drawing/2014/main" id="{29341AE9-8AFE-4A8E-A627-D51B4508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96112"/>
            <a:ext cx="7772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ADCE0"/>
                </a:solidFill>
                <a:latin typeface="Calibri"/>
                <a:ea typeface="Calibri"/>
                <a:cs typeface="Calibri"/>
              </a:rPr>
              <a:t>A working prototype for more coordinated campus clinic operations</a:t>
            </a:r>
          </a:p>
        </p:txBody>
      </p:sp>
      <p:sp>
        <p:nvSpPr>
          <p:cNvPr id="513" name="Google Shape;513;p15">
            <a:extLst xmlns:a="http://schemas.openxmlformats.org/drawingml/2006/main">
              <a:ext uri="{FF2B5EF4-FFF2-40B4-BE49-F238E27FC236}">
                <a16:creationId xmlns:a16="http://schemas.microsoft.com/office/drawing/2014/main" id="{E3A6E064-2465-44C5-9796-08C3D747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2606040" cy="32004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A55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4" name="Google Shape;514;p15">
            <a:extLst xmlns:a="http://schemas.openxmlformats.org/drawingml/2006/main">
              <a:ext uri="{FF2B5EF4-FFF2-40B4-BE49-F238E27FC236}">
                <a16:creationId xmlns:a16="http://schemas.microsoft.com/office/drawing/2014/main" id="{66D73563-3614-40A7-8EC5-23C87962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91640"/>
            <a:ext cx="22402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08A4B"/>
                </a:solidFill>
                <a:latin typeface="Calibri"/>
                <a:ea typeface="Calibri"/>
                <a:cs typeface="Calibri"/>
              </a:rPr>
              <a:t>PROBLEMS ADDRESSED</a:t>
            </a:r>
          </a:p>
        </p:txBody>
      </p:sp>
      <p:sp>
        <p:nvSpPr>
          <p:cNvPr id="515" name="Google Shape;515;p15">
            <a:extLst xmlns:a="http://schemas.openxmlformats.org/drawingml/2006/main">
              <a:ext uri="{FF2B5EF4-FFF2-40B4-BE49-F238E27FC236}">
                <a16:creationId xmlns:a16="http://schemas.microsoft.com/office/drawing/2014/main" id="{BFBA4698-49BB-47BF-AE2D-0DCD95AD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1401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4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6" name="Google Shape;516;p15">
            <a:extLst xmlns:a="http://schemas.openxmlformats.org/drawingml/2006/main">
              <a:ext uri="{FF2B5EF4-FFF2-40B4-BE49-F238E27FC236}">
                <a16:creationId xmlns:a16="http://schemas.microsoft.com/office/drawing/2014/main" id="{3DAFF113-A6A7-4869-AA4D-3A257898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322576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Manual, paper-based records</a:t>
            </a:r>
          </a:p>
        </p:txBody>
      </p:sp>
      <p:sp>
        <p:nvSpPr>
          <p:cNvPr id="517" name="Google Shape;517;p15">
            <a:extLst xmlns:a="http://schemas.openxmlformats.org/drawingml/2006/main">
              <a:ext uri="{FF2B5EF4-FFF2-40B4-BE49-F238E27FC236}">
                <a16:creationId xmlns:a16="http://schemas.microsoft.com/office/drawing/2014/main" id="{034B70CB-53CE-48C6-ACED-617820A0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8094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4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8" name="Google Shape;518;p15">
            <a:extLst xmlns:a="http://schemas.openxmlformats.org/drawingml/2006/main">
              <a:ext uri="{FF2B5EF4-FFF2-40B4-BE49-F238E27FC236}">
                <a16:creationId xmlns:a16="http://schemas.microsoft.com/office/drawing/2014/main" id="{CA0BB8F1-595E-4435-9EDA-08149245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89504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Slow information retrieval</a:t>
            </a:r>
          </a:p>
        </p:txBody>
      </p:sp>
      <p:sp>
        <p:nvSpPr>
          <p:cNvPr id="519" name="Google Shape;519;p15">
            <a:extLst xmlns:a="http://schemas.openxmlformats.org/drawingml/2006/main">
              <a:ext uri="{FF2B5EF4-FFF2-40B4-BE49-F238E27FC236}">
                <a16:creationId xmlns:a16="http://schemas.microsoft.com/office/drawing/2014/main" id="{75BCCD6A-397B-4619-9411-3E469B08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47872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4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0" name="Google Shape;520;p15">
            <a:extLst xmlns:a="http://schemas.openxmlformats.org/drawingml/2006/main">
              <a:ext uri="{FF2B5EF4-FFF2-40B4-BE49-F238E27FC236}">
                <a16:creationId xmlns:a16="http://schemas.microsoft.com/office/drawing/2014/main" id="{CB71309A-9935-4EB3-998C-43B06B2D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456432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Weak emergency response</a:t>
            </a:r>
          </a:p>
        </p:txBody>
      </p:sp>
      <p:sp>
        <p:nvSpPr>
          <p:cNvPr id="521" name="Google Shape;521;p15">
            <a:extLst xmlns:a="http://schemas.openxmlformats.org/drawingml/2006/main">
              <a:ext uri="{FF2B5EF4-FFF2-40B4-BE49-F238E27FC236}">
                <a16:creationId xmlns:a16="http://schemas.microsoft.com/office/drawing/2014/main" id="{C945EECA-738E-49A6-B375-AAC2C037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508760"/>
            <a:ext cx="2606040" cy="32004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A55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2" name="Google Shape;522;p15">
            <a:extLst xmlns:a="http://schemas.openxmlformats.org/drawingml/2006/main">
              <a:ext uri="{FF2B5EF4-FFF2-40B4-BE49-F238E27FC236}">
                <a16:creationId xmlns:a16="http://schemas.microsoft.com/office/drawing/2014/main" id="{3F97D091-A995-4813-87BB-B05932D5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691640"/>
            <a:ext cx="22402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SOLUTIONS IMPLEMENTED</a:t>
            </a:r>
          </a:p>
        </p:txBody>
      </p:sp>
      <p:sp>
        <p:nvSpPr>
          <p:cNvPr id="523" name="Google Shape;523;p15">
            <a:extLst xmlns:a="http://schemas.openxmlformats.org/drawingml/2006/main">
              <a:ext uri="{FF2B5EF4-FFF2-40B4-BE49-F238E27FC236}">
                <a16:creationId xmlns:a16="http://schemas.microsoft.com/office/drawing/2014/main" id="{453E26E2-4906-496B-AA14-AB24B7A0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41401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4" name="Google Shape;524;p15">
            <a:extLst xmlns:a="http://schemas.openxmlformats.org/drawingml/2006/main">
              <a:ext uri="{FF2B5EF4-FFF2-40B4-BE49-F238E27FC236}">
                <a16:creationId xmlns:a16="http://schemas.microsoft.com/office/drawing/2014/main" id="{7242DC5D-E132-401C-96CD-3CE000C5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322576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Centralized EHR</a:t>
            </a:r>
          </a:p>
        </p:txBody>
      </p:sp>
      <p:sp>
        <p:nvSpPr>
          <p:cNvPr id="525" name="Google Shape;525;p15">
            <a:extLst xmlns:a="http://schemas.openxmlformats.org/drawingml/2006/main">
              <a:ext uri="{FF2B5EF4-FFF2-40B4-BE49-F238E27FC236}">
                <a16:creationId xmlns:a16="http://schemas.microsoft.com/office/drawing/2014/main" id="{08D950CB-55FB-4626-BD6C-6C44267C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8094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6" name="Google Shape;526;p15">
            <a:extLst xmlns:a="http://schemas.openxmlformats.org/drawingml/2006/main">
              <a:ext uri="{FF2B5EF4-FFF2-40B4-BE49-F238E27FC236}">
                <a16:creationId xmlns:a16="http://schemas.microsoft.com/office/drawing/2014/main" id="{1D4CB38B-2AFD-488C-BBDC-57299356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889504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Patient Risk Classification</a:t>
            </a:r>
          </a:p>
        </p:txBody>
      </p:sp>
      <p:sp>
        <p:nvSpPr>
          <p:cNvPr id="527" name="Google Shape;527;p15">
            <a:extLst xmlns:a="http://schemas.openxmlformats.org/drawingml/2006/main">
              <a:ext uri="{FF2B5EF4-FFF2-40B4-BE49-F238E27FC236}">
                <a16:creationId xmlns:a16="http://schemas.microsoft.com/office/drawing/2014/main" id="{CBAD4D91-5927-40EB-99C0-5B1EE16A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547872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8" name="Google Shape;528;p15">
            <a:extLst xmlns:a="http://schemas.openxmlformats.org/drawingml/2006/main">
              <a:ext uri="{FF2B5EF4-FFF2-40B4-BE49-F238E27FC236}">
                <a16:creationId xmlns:a16="http://schemas.microsoft.com/office/drawing/2014/main" id="{400F92F2-1DF5-490B-9572-2CAF449F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456432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QR/NFC-Ready Passport</a:t>
            </a:r>
          </a:p>
        </p:txBody>
      </p:sp>
      <p:sp>
        <p:nvSpPr>
          <p:cNvPr id="529" name="Google Shape;529;p15">
            <a:extLst xmlns:a="http://schemas.openxmlformats.org/drawingml/2006/main">
              <a:ext uri="{FF2B5EF4-FFF2-40B4-BE49-F238E27FC236}">
                <a16:creationId xmlns:a16="http://schemas.microsoft.com/office/drawing/2014/main" id="{A982DAD8-7F54-4D30-B5C5-FE0ABBC9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11480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30" name="Google Shape;530;p15">
            <a:extLst xmlns:a="http://schemas.openxmlformats.org/drawingml/2006/main">
              <a:ext uri="{FF2B5EF4-FFF2-40B4-BE49-F238E27FC236}">
                <a16:creationId xmlns:a16="http://schemas.microsoft.com/office/drawing/2014/main" id="{9E7A63D4-C0C8-4F28-B712-BA41C3BA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02336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Nurse Alerting</a:t>
            </a:r>
          </a:p>
        </p:txBody>
      </p:sp>
      <p:sp>
        <p:nvSpPr>
          <p:cNvPr id="531" name="Google Shape;531;p15">
            <a:extLst xmlns:a="http://schemas.openxmlformats.org/drawingml/2006/main">
              <a:ext uri="{FF2B5EF4-FFF2-40B4-BE49-F238E27FC236}">
                <a16:creationId xmlns:a16="http://schemas.microsoft.com/office/drawing/2014/main" id="{83C2AF70-4D7D-4907-A1F9-84069066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508760"/>
            <a:ext cx="2606040" cy="32004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A55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32" name="Google Shape;532;p15">
            <a:extLst xmlns:a="http://schemas.openxmlformats.org/drawingml/2006/main">
              <a:ext uri="{FF2B5EF4-FFF2-40B4-BE49-F238E27FC236}">
                <a16:creationId xmlns:a16="http://schemas.microsoft.com/office/drawing/2014/main" id="{FEE384A5-4E01-45BA-8D4A-B9DEED6A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22402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6FB1E8"/>
                </a:solidFill>
                <a:latin typeface="Calibri"/>
                <a:ea typeface="Calibri"/>
                <a:cs typeface="Calibri"/>
              </a:rPr>
              <a:t>PROTOTYPE BENEFITS</a:t>
            </a:r>
          </a:p>
        </p:txBody>
      </p:sp>
      <p:sp>
        <p:nvSpPr>
          <p:cNvPr id="533" name="Google Shape;533;p15">
            <a:extLst xmlns:a="http://schemas.openxmlformats.org/drawingml/2006/main">
              <a:ext uri="{FF2B5EF4-FFF2-40B4-BE49-F238E27FC236}">
                <a16:creationId xmlns:a16="http://schemas.microsoft.com/office/drawing/2014/main" id="{9DA4283C-CCFF-4E84-A611-48B8C5C6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41401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B1E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34" name="Google Shape;534;p15">
            <a:extLst xmlns:a="http://schemas.openxmlformats.org/drawingml/2006/main">
              <a:ext uri="{FF2B5EF4-FFF2-40B4-BE49-F238E27FC236}">
                <a16:creationId xmlns:a16="http://schemas.microsoft.com/office/drawing/2014/main" id="{39785196-6A6B-49A7-8270-7773E0A6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22576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Faster clinic coordination</a:t>
            </a:r>
          </a:p>
        </p:txBody>
      </p:sp>
      <p:sp>
        <p:nvSpPr>
          <p:cNvPr id="535" name="Google Shape;535;p15">
            <a:extLst xmlns:a="http://schemas.openxmlformats.org/drawingml/2006/main">
              <a:ext uri="{FF2B5EF4-FFF2-40B4-BE49-F238E27FC236}">
                <a16:creationId xmlns:a16="http://schemas.microsoft.com/office/drawing/2014/main" id="{DE208B2C-0882-4BF8-86E7-99DF6344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98094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B1E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36" name="Google Shape;536;p15">
            <a:extLst xmlns:a="http://schemas.openxmlformats.org/drawingml/2006/main">
              <a:ext uri="{FF2B5EF4-FFF2-40B4-BE49-F238E27FC236}">
                <a16:creationId xmlns:a16="http://schemas.microsoft.com/office/drawing/2014/main" id="{7FE09AF9-B50B-495E-A624-CD72AE10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889504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Better record management</a:t>
            </a:r>
          </a:p>
        </p:txBody>
      </p:sp>
      <p:sp>
        <p:nvSpPr>
          <p:cNvPr id="537" name="Google Shape;537;p15">
            <a:extLst xmlns:a="http://schemas.openxmlformats.org/drawingml/2006/main">
              <a:ext uri="{FF2B5EF4-FFF2-40B4-BE49-F238E27FC236}">
                <a16:creationId xmlns:a16="http://schemas.microsoft.com/office/drawing/2014/main" id="{F9026DEA-44D8-4862-B7CC-C16FD67B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547872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B1E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38" name="Google Shape;538;p15">
            <a:extLst xmlns:a="http://schemas.openxmlformats.org/drawingml/2006/main">
              <a:ext uri="{FF2B5EF4-FFF2-40B4-BE49-F238E27FC236}">
                <a16:creationId xmlns:a16="http://schemas.microsoft.com/office/drawing/2014/main" id="{42AF29E1-30DF-4129-A0BD-C3530954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456432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More efficient daily workflow</a:t>
            </a:r>
          </a:p>
        </p:txBody>
      </p:sp>
      <p:sp>
        <p:nvSpPr>
          <p:cNvPr id="539" name="Google Shape;539;p15">
            <a:extLst xmlns:a="http://schemas.openxmlformats.org/drawingml/2006/main">
              <a:ext uri="{FF2B5EF4-FFF2-40B4-BE49-F238E27FC236}">
                <a16:creationId xmlns:a16="http://schemas.microsoft.com/office/drawing/2014/main" id="{F089A495-1921-463F-AE7D-1FE6B0B4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43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540" name="Google Shape;540;p15">
            <a:extLst xmlns:a="http://schemas.openxmlformats.org/drawingml/2006/main">
              <a:ext uri="{FF2B5EF4-FFF2-40B4-BE49-F238E27FC236}">
                <a16:creationId xmlns:a16="http://schemas.microsoft.com/office/drawing/2014/main" id="{30E92CCD-428F-4FF5-9AA7-F56B6BE2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431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C7A80"/>
                </a:solidFill>
                <a:latin typeface="Calibri"/>
                <a:ea typeface="Calibri"/>
                <a:cs typeface="Calibri"/>
              </a:rPr>
              <a:t>CLINiQ</a:t>
            </a:r>
          </a:p>
        </p:txBody>
      </p:sp>
    </p:spTree>
    <p:extLst>
      <p:ext uri="{BB962C8B-B14F-4D97-AF65-F5344CB8AC3E}">
        <p14:creationId xmlns:p14="http://schemas.microsoft.com/office/powerpoint/2010/main" val="43895982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2026-07-11T08:36:43.1700000Z</dcterms:created>
  <dcterms:modified xsi:type="dcterms:W3CDTF">2026-07-11T08:36:43.1700000Z</dcterms:modified>
</coreProperties>
</file>